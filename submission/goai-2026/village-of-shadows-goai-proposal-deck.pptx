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1.png"/><Relationship Id="rId3" Type="http://schemas.openxmlformats.org/officeDocument/2006/relationships/image" Target="../media/image-3-1.png"/><Relationship Id="rId4" Type="http://schemas.openxmlformats.org/officeDocument/2006/relationships/image" Target="../media/image-3-4.png"/><Relationship Id="rId5" Type="http://schemas.openxmlformats.org/officeDocument/2006/relationships/image" Target="../media/image-3-1.png"/><Relationship Id="rId6" Type="http://schemas.openxmlformats.org/officeDocument/2006/relationships/image" Target="../media/image-3-1.png"/><Relationship Id="rId7" Type="http://schemas.openxmlformats.org/officeDocument/2006/relationships/image" Target="../media/image-3-1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k/Desktop/workspace/2026/village-of-shadows/submission/goai-2026/unpacked-broken/ppt/media/im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15131B"/>
          </a:solidFill>
          <a:ln/>
        </p:spPr>
      </p:sp>
      <p:sp>
        <p:nvSpPr>
          <p:cNvPr id="4" name="Text 1"/>
          <p:cNvSpPr/>
          <p:nvPr/>
        </p:nvSpPr>
        <p:spPr>
          <a:xfrm>
            <a:off x="502920" y="6400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BOUNDLESS AGENTS  ·  AI + EDUCATION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457200" y="233172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5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Village of</a:t>
            </a:r>
            <a:endParaRPr lang="en-US" sz="4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5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Shadows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502920" y="416052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i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agentic AI from inside a multi-agent world.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502920" y="498348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AI agents  ·  One human  ·  One unscripted world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02920" y="626364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GOAI 2026  ·  Proposal Deck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k/Desktop/workspace/2026/village-of-shadows/submission/goai-2026/unpacked-broken/ppt/media/ima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486400" cy="6858000"/>
          </a:xfrm>
          <a:prstGeom prst="rect">
            <a:avLst/>
          </a:prstGeom>
          <a:solidFill>
            <a:srgbClr val="15131B"/>
          </a:solidFill>
          <a:ln/>
        </p:spPr>
      </p:sp>
      <p:sp>
        <p:nvSpPr>
          <p:cNvPr id="4" name="Text 1"/>
          <p:cNvSpPr/>
          <p:nvPr/>
        </p:nvSpPr>
        <p:spPr>
          <a:xfrm>
            <a:off x="502920" y="5486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LEARNING GAP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" y="105156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F5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agentic-AI lessons stop at the box.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502920" y="214884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in, tool fires, report out. Useful — but it hides the parts that make real systems hard.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12648" y="3154680"/>
            <a:ext cx="512064" cy="512064"/>
          </a:xfrm>
          <a:prstGeom prst="ellipse">
            <a:avLst/>
          </a:prstGeom>
          <a:solidFill>
            <a:srgbClr val="1C1926"/>
          </a:solidFill>
          <a:ln w="15875">
            <a:solidFill>
              <a:srgbClr val="D9A441"/>
            </a:solidFill>
            <a:prstDash val="solid"/>
          </a:ln>
        </p:spPr>
      </p:sp>
      <p:pic>
        <p:nvPicPr>
          <p:cNvPr id="8" name="Image 1" descr="/private/tmp/claude-501/-Users-mk-Desktop-workspace-2026-village-of-shadows/d65423eb-a117-4f86-892b-10a5dc598ecd/scratchpad/deck/icons/fingerpr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3282696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34440" y="315468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context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1234440" y="3419856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one agent knows, another must not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12648" y="3867912"/>
            <a:ext cx="512064" cy="512064"/>
          </a:xfrm>
          <a:prstGeom prst="ellipse">
            <a:avLst/>
          </a:prstGeom>
          <a:solidFill>
            <a:srgbClr val="1C1926"/>
          </a:solidFill>
          <a:ln w="15875">
            <a:solidFill>
              <a:srgbClr val="D9A441"/>
            </a:solidFill>
            <a:prstDash val="solid"/>
          </a:ln>
        </p:spPr>
      </p:sp>
      <p:pic>
        <p:nvPicPr>
          <p:cNvPr id="12" name="Image 2" descr="/private/tmp/claude-501/-Users-mk-Desktop-workspace-2026-village-of-shadows/d65423eb-a117-4f86-892b-10a5dc598ecd/scratchpad/deck/icons/bala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3995928"/>
            <a:ext cx="256032" cy="25603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34440" y="38679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Competing goals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1234440" y="4133088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Villagers and werewolves want opposite endings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612648" y="4581144"/>
            <a:ext cx="512064" cy="512064"/>
          </a:xfrm>
          <a:prstGeom prst="ellipse">
            <a:avLst/>
          </a:prstGeom>
          <a:solidFill>
            <a:srgbClr val="1C1926"/>
          </a:solidFill>
          <a:ln w="15875">
            <a:solidFill>
              <a:srgbClr val="D9A441"/>
            </a:solidFill>
            <a:prstDash val="solid"/>
          </a:ln>
        </p:spPr>
      </p:sp>
      <p:pic>
        <p:nvPicPr>
          <p:cNvPr id="16" name="Image 3" descr="/private/tmp/claude-501/-Users-mk-Desktop-workspace-2026-village-of-shadows/d65423eb-a117-4f86-892b-10a5dc598ecd/scratchpad/deck/icons/brai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4709160"/>
            <a:ext cx="256032" cy="256032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234440" y="4581144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memory</a:t>
            </a:r>
            <a:endParaRPr lang="en-US" sz="1300" dirty="0"/>
          </a:p>
        </p:txBody>
      </p:sp>
      <p:sp>
        <p:nvSpPr>
          <p:cNvPr id="18" name="Text 12"/>
          <p:cNvSpPr/>
          <p:nvPr/>
        </p:nvSpPr>
        <p:spPr>
          <a:xfrm>
            <a:off x="1234440" y="484632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Beliefs that carry across many turns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612648" y="5294376"/>
            <a:ext cx="512064" cy="512064"/>
          </a:xfrm>
          <a:prstGeom prst="ellipse">
            <a:avLst/>
          </a:prstGeom>
          <a:solidFill>
            <a:srgbClr val="1C1926"/>
          </a:solidFill>
          <a:ln w="15875">
            <a:solidFill>
              <a:srgbClr val="D9A441"/>
            </a:solidFill>
            <a:prstDash val="solid"/>
          </a:ln>
        </p:spPr>
      </p:sp>
      <p:pic>
        <p:nvPicPr>
          <p:cNvPr id="20" name="Image 4" descr="/private/tmp/claude-501/-Users-mk-Desktop-workspace-2026-village-of-shadows/d65423eb-a117-4f86-892b-10a5dc598ecd/scratchpad/deck/icons/us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664" y="5422392"/>
            <a:ext cx="256032" cy="256032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234440" y="5294376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interrupts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234440" y="5559552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suspension, not a scripted pause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EXPERIENCE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F5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becomes something you can sit inside.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independent AI agents and one human share the same world — but never the same information.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383280" y="3429000"/>
            <a:ext cx="1554480" cy="1554480"/>
          </a:xfrm>
          <a:prstGeom prst="ellipse">
            <a:avLst/>
          </a:prstGeom>
          <a:solidFill>
            <a:srgbClr val="15131B"/>
          </a:solidFill>
          <a:ln w="19050">
            <a:solidFill>
              <a:srgbClr val="D9A44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383280" y="3877056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803904" y="2432304"/>
            <a:ext cx="713232" cy="713232"/>
          </a:xfrm>
          <a:prstGeom prst="ellipse">
            <a:avLst/>
          </a:prstGeom>
          <a:solidFill>
            <a:srgbClr val="1C1926"/>
          </a:solidFill>
          <a:ln w="15875">
            <a:solidFill>
              <a:srgbClr val="D9A441"/>
            </a:solidFill>
            <a:prstDash val="solid"/>
          </a:ln>
        </p:spPr>
      </p:sp>
      <p:pic>
        <p:nvPicPr>
          <p:cNvPr id="8" name="Image 0" descr="/private/tmp/claude-501/-Users-mk-Desktop-workspace-2026-village-of-shadows/d65423eb-a117-4f86-892b-10a5dc598ecd/scratchpad/deck/icons/rob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82212" y="2610612"/>
            <a:ext cx="356616" cy="35661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3611880" y="317296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· 1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912009" y="2965939"/>
            <a:ext cx="713232" cy="713232"/>
          </a:xfrm>
          <a:prstGeom prst="ellipse">
            <a:avLst/>
          </a:prstGeom>
          <a:solidFill>
            <a:srgbClr val="1C1926"/>
          </a:solidFill>
          <a:ln w="15875">
            <a:solidFill>
              <a:srgbClr val="D9A441"/>
            </a:solidFill>
            <a:prstDash val="solid"/>
          </a:ln>
        </p:spPr>
      </p:sp>
      <p:pic>
        <p:nvPicPr>
          <p:cNvPr id="11" name="Image 1" descr="/private/tmp/claude-501/-Users-mk-Desktop-workspace-2026-village-of-shadows/d65423eb-a117-4f86-892b-10a5dc598ecd/scratchpad/deck/icons/rob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0317" y="3144247"/>
            <a:ext cx="356616" cy="35661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19985" y="3706603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· 2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5185689" y="4165007"/>
            <a:ext cx="713232" cy="713232"/>
          </a:xfrm>
          <a:prstGeom prst="ellipse">
            <a:avLst/>
          </a:prstGeom>
          <a:solidFill>
            <a:srgbClr val="1C1926"/>
          </a:solidFill>
          <a:ln w="15875">
            <a:solidFill>
              <a:srgbClr val="D9A441"/>
            </a:solidFill>
            <a:prstDash val="solid"/>
          </a:ln>
        </p:spPr>
      </p:sp>
      <p:pic>
        <p:nvPicPr>
          <p:cNvPr id="14" name="Image 2" descr="/private/tmp/claude-501/-Users-mk-Desktop-workspace-2026-village-of-shadows/d65423eb-a117-4f86-892b-10a5dc598ecd/scratchpad/deck/icons/robo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3997" y="4343315"/>
            <a:ext cx="356616" cy="35661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993665" y="4905671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· 3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4418856" y="5126585"/>
            <a:ext cx="713232" cy="713232"/>
          </a:xfrm>
          <a:prstGeom prst="ellipse">
            <a:avLst/>
          </a:prstGeom>
          <a:solidFill>
            <a:srgbClr val="D9A441"/>
          </a:solidFill>
          <a:ln w="15875">
            <a:solidFill>
              <a:srgbClr val="F5F1E8"/>
            </a:solidFill>
            <a:prstDash val="solid"/>
          </a:ln>
        </p:spPr>
      </p:sp>
      <p:pic>
        <p:nvPicPr>
          <p:cNvPr id="17" name="Image 3" descr="/private/tmp/claude-501/-Users-mk-Desktop-workspace-2026-village-of-shadows/d65423eb-a117-4f86-892b-10a5dc598ecd/scratchpad/deck/icons/user_you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7164" y="5304893"/>
            <a:ext cx="356616" cy="35661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4226832" y="5867249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3188952" y="5126585"/>
            <a:ext cx="713232" cy="713232"/>
          </a:xfrm>
          <a:prstGeom prst="ellipse">
            <a:avLst/>
          </a:prstGeom>
          <a:solidFill>
            <a:srgbClr val="1C1926"/>
          </a:solidFill>
          <a:ln w="15875">
            <a:solidFill>
              <a:srgbClr val="D9A441"/>
            </a:solidFill>
            <a:prstDash val="solid"/>
          </a:ln>
        </p:spPr>
      </p:sp>
      <p:pic>
        <p:nvPicPr>
          <p:cNvPr id="20" name="Image 4" descr="/private/tmp/claude-501/-Users-mk-Desktop-workspace-2026-village-of-shadows/d65423eb-a117-4f86-892b-10a5dc598ecd/scratchpad/deck/icons/robo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67260" y="5304893"/>
            <a:ext cx="356616" cy="356616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2996928" y="5867249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· 4</a:t>
            </a:r>
            <a:endParaRPr lang="en-US" sz="1050" dirty="0"/>
          </a:p>
        </p:txBody>
      </p:sp>
      <p:sp>
        <p:nvSpPr>
          <p:cNvPr id="22" name="Shape 15"/>
          <p:cNvSpPr/>
          <p:nvPr/>
        </p:nvSpPr>
        <p:spPr>
          <a:xfrm>
            <a:off x="2422119" y="4165007"/>
            <a:ext cx="713232" cy="713232"/>
          </a:xfrm>
          <a:prstGeom prst="ellipse">
            <a:avLst/>
          </a:prstGeom>
          <a:solidFill>
            <a:srgbClr val="1C1926"/>
          </a:solidFill>
          <a:ln w="15875">
            <a:solidFill>
              <a:srgbClr val="D9A441"/>
            </a:solidFill>
            <a:prstDash val="solid"/>
          </a:ln>
        </p:spPr>
      </p:sp>
      <p:pic>
        <p:nvPicPr>
          <p:cNvPr id="23" name="Image 5" descr="/private/tmp/claude-501/-Users-mk-Desktop-workspace-2026-village-of-shadows/d65423eb-a117-4f86-892b-10a5dc598ecd/scratchpad/deck/icons/robo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0427" y="4343315"/>
            <a:ext cx="356616" cy="356616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2230095" y="4905671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· 5</a:t>
            </a:r>
            <a:endParaRPr lang="en-US" sz="1050" dirty="0"/>
          </a:p>
        </p:txBody>
      </p:sp>
      <p:sp>
        <p:nvSpPr>
          <p:cNvPr id="25" name="Shape 17"/>
          <p:cNvSpPr/>
          <p:nvPr/>
        </p:nvSpPr>
        <p:spPr>
          <a:xfrm>
            <a:off x="2695799" y="2965939"/>
            <a:ext cx="713232" cy="713232"/>
          </a:xfrm>
          <a:prstGeom prst="ellipse">
            <a:avLst/>
          </a:prstGeom>
          <a:solidFill>
            <a:srgbClr val="1C1926"/>
          </a:solidFill>
          <a:ln w="15875">
            <a:solidFill>
              <a:srgbClr val="D9A441"/>
            </a:solidFill>
            <a:prstDash val="solid"/>
          </a:ln>
        </p:spPr>
      </p:sp>
      <p:pic>
        <p:nvPicPr>
          <p:cNvPr id="26" name="Image 6" descr="/private/tmp/claude-501/-Users-mk-Desktop-workspace-2026-village-of-shadows/d65423eb-a117-4f86-892b-10a5dc598ecd/scratchpad/deck/icons/robo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74107" y="3144247"/>
            <a:ext cx="356616" cy="356616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2503775" y="3706603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· 6</a:t>
            </a:r>
            <a:endParaRPr lang="en-US" sz="1050" dirty="0"/>
          </a:p>
        </p:txBody>
      </p:sp>
      <p:sp>
        <p:nvSpPr>
          <p:cNvPr id="28" name="Text 19"/>
          <p:cNvSpPr/>
          <p:nvPr/>
        </p:nvSpPr>
        <p:spPr>
          <a:xfrm>
            <a:off x="6903720" y="2834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SEAT OWNS</a:t>
            </a:r>
            <a:endParaRPr lang="en-US" sz="1100" dirty="0"/>
          </a:p>
        </p:txBody>
      </p:sp>
      <p:sp>
        <p:nvSpPr>
          <p:cNvPr id="29" name="Shape 20"/>
          <p:cNvSpPr/>
          <p:nvPr/>
        </p:nvSpPr>
        <p:spPr>
          <a:xfrm>
            <a:off x="6903720" y="3246120"/>
            <a:ext cx="4206240" cy="566928"/>
          </a:xfrm>
          <a:prstGeom prst="roundRect">
            <a:avLst>
              <a:gd name="adj" fmla="val 9677"/>
            </a:avLst>
          </a:prstGeom>
          <a:solidFill>
            <a:srgbClr val="1C1926"/>
          </a:solidFill>
          <a:ln/>
        </p:spPr>
      </p:sp>
      <p:sp>
        <p:nvSpPr>
          <p:cNvPr id="30" name="Text 21"/>
          <p:cNvSpPr/>
          <p:nvPr/>
        </p:nvSpPr>
        <p:spPr>
          <a:xfrm>
            <a:off x="7132320" y="324612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300" dirty="0"/>
          </a:p>
        </p:txBody>
      </p:sp>
      <p:sp>
        <p:nvSpPr>
          <p:cNvPr id="31" name="Shape 22"/>
          <p:cNvSpPr/>
          <p:nvPr/>
        </p:nvSpPr>
        <p:spPr>
          <a:xfrm>
            <a:off x="6903720" y="3941064"/>
            <a:ext cx="4206240" cy="566928"/>
          </a:xfrm>
          <a:prstGeom prst="roundRect">
            <a:avLst>
              <a:gd name="adj" fmla="val 9677"/>
            </a:avLst>
          </a:prstGeom>
          <a:solidFill>
            <a:srgbClr val="1C1926"/>
          </a:solidFill>
          <a:ln/>
        </p:spPr>
      </p:sp>
      <p:sp>
        <p:nvSpPr>
          <p:cNvPr id="32" name="Text 23"/>
          <p:cNvSpPr/>
          <p:nvPr/>
        </p:nvSpPr>
        <p:spPr>
          <a:xfrm>
            <a:off x="7132320" y="3941064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PERSONALITY</a:t>
            </a:r>
            <a:endParaRPr lang="en-US" sz="1300" dirty="0"/>
          </a:p>
        </p:txBody>
      </p:sp>
      <p:sp>
        <p:nvSpPr>
          <p:cNvPr id="33" name="Shape 24"/>
          <p:cNvSpPr/>
          <p:nvPr/>
        </p:nvSpPr>
        <p:spPr>
          <a:xfrm>
            <a:off x="6903720" y="4636008"/>
            <a:ext cx="4206240" cy="566928"/>
          </a:xfrm>
          <a:prstGeom prst="roundRect">
            <a:avLst>
              <a:gd name="adj" fmla="val 9677"/>
            </a:avLst>
          </a:prstGeom>
          <a:solidFill>
            <a:srgbClr val="1C1926"/>
          </a:solidFill>
          <a:ln/>
        </p:spPr>
      </p:sp>
      <p:sp>
        <p:nvSpPr>
          <p:cNvPr id="34" name="Text 25"/>
          <p:cNvSpPr/>
          <p:nvPr/>
        </p:nvSpPr>
        <p:spPr>
          <a:xfrm>
            <a:off x="7132320" y="4636008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ROLE</a:t>
            </a:r>
            <a:endParaRPr lang="en-US" sz="1300" dirty="0"/>
          </a:p>
        </p:txBody>
      </p:sp>
      <p:sp>
        <p:nvSpPr>
          <p:cNvPr id="35" name="Shape 26"/>
          <p:cNvSpPr/>
          <p:nvPr/>
        </p:nvSpPr>
        <p:spPr>
          <a:xfrm>
            <a:off x="6903720" y="5330952"/>
            <a:ext cx="4206240" cy="566928"/>
          </a:xfrm>
          <a:prstGeom prst="roundRect">
            <a:avLst>
              <a:gd name="adj" fmla="val 9677"/>
            </a:avLst>
          </a:prstGeom>
          <a:solidFill>
            <a:srgbClr val="1C1926"/>
          </a:solidFill>
          <a:ln/>
        </p:spPr>
      </p:sp>
      <p:sp>
        <p:nvSpPr>
          <p:cNvPr id="36" name="Text 27"/>
          <p:cNvSpPr/>
          <p:nvPr/>
        </p:nvSpPr>
        <p:spPr>
          <a:xfrm>
            <a:off x="7132320" y="5330952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MEMORY</a:t>
            </a:r>
            <a:endParaRPr lang="en-US" sz="1300" dirty="0"/>
          </a:p>
        </p:txBody>
      </p:sp>
      <p:sp>
        <p:nvSpPr>
          <p:cNvPr id="37" name="Text 28"/>
          <p:cNvSpPr/>
          <p:nvPr/>
        </p:nvSpPr>
        <p:spPr>
          <a:xfrm>
            <a:off x="640080" y="630936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graph owns the world. The agents own their choices.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IN THE LOOP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F5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human is not supervising. The human is playing.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and human actions pass through the same identity and rule-validation layer. When the human must act, execution genuinely suspends.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169286" y="2651760"/>
            <a:ext cx="18531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C149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INTERRUPT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822960" y="3108960"/>
            <a:ext cx="1853123" cy="1828800"/>
          </a:xfrm>
          <a:prstGeom prst="roundRect">
            <a:avLst>
              <a:gd name="adj" fmla="val 4000"/>
            </a:avLst>
          </a:prstGeom>
          <a:solidFill>
            <a:srgbClr val="1C1926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420338" y="3346704"/>
            <a:ext cx="658368" cy="658368"/>
          </a:xfrm>
          <a:prstGeom prst="ellipse">
            <a:avLst/>
          </a:prstGeom>
          <a:solidFill>
            <a:srgbClr val="1C1926"/>
          </a:solidFill>
          <a:ln w="15875">
            <a:solidFill>
              <a:srgbClr val="D9A441"/>
            </a:solidFill>
            <a:prstDash val="solid"/>
          </a:ln>
        </p:spPr>
      </p:sp>
      <p:pic>
        <p:nvPicPr>
          <p:cNvPr id="8" name="Image 0" descr="/private/tmp/claude-501/-Users-mk-Desktop-workspace-2026-village-of-shadows/d65423eb-a117-4f86-892b-10a5dc598ecd/scratchpad/deck/icons/mo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4930" y="3511296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14400" y="4133088"/>
            <a:ext cx="167024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914400" y="4480560"/>
            <a:ext cx="16702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actions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2676083" y="3493008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6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996123" y="3108960"/>
            <a:ext cx="1853123" cy="1828800"/>
          </a:xfrm>
          <a:prstGeom prst="roundRect">
            <a:avLst>
              <a:gd name="adj" fmla="val 4000"/>
            </a:avLst>
          </a:prstGeom>
          <a:solidFill>
            <a:srgbClr val="1C1926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593501" y="3346704"/>
            <a:ext cx="658368" cy="658368"/>
          </a:xfrm>
          <a:prstGeom prst="ellipse">
            <a:avLst/>
          </a:prstGeom>
          <a:solidFill>
            <a:srgbClr val="1C1926"/>
          </a:solidFill>
          <a:ln w="15875">
            <a:solidFill>
              <a:srgbClr val="D9A441"/>
            </a:solidFill>
            <a:prstDash val="solid"/>
          </a:ln>
        </p:spPr>
      </p:sp>
      <p:pic>
        <p:nvPicPr>
          <p:cNvPr id="14" name="Image 1" descr="/private/tmp/claude-501/-Users-mk-Desktop-workspace-2026-village-of-shadows/d65423eb-a117-4f86-892b-10a5dc598ecd/scratchpad/deck/icons/commen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8093" y="3511296"/>
            <a:ext cx="329184" cy="32918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087563" y="4133088"/>
            <a:ext cx="167024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3087563" y="4480560"/>
            <a:ext cx="16702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claims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4849246" y="3493008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6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5169286" y="3108960"/>
            <a:ext cx="1853123" cy="1828800"/>
          </a:xfrm>
          <a:prstGeom prst="roundRect">
            <a:avLst>
              <a:gd name="adj" fmla="val 4000"/>
            </a:avLst>
          </a:prstGeom>
          <a:solidFill>
            <a:srgbClr val="241A1C"/>
          </a:solidFill>
          <a:ln w="12700">
            <a:solidFill>
              <a:srgbClr val="C1495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766664" y="3346704"/>
            <a:ext cx="658368" cy="658368"/>
          </a:xfrm>
          <a:prstGeom prst="ellipse">
            <a:avLst/>
          </a:prstGeom>
          <a:solidFill>
            <a:srgbClr val="1C1926"/>
          </a:solidFill>
          <a:ln w="15875">
            <a:solidFill>
              <a:srgbClr val="C1495A"/>
            </a:solidFill>
            <a:prstDash val="solid"/>
          </a:ln>
        </p:spPr>
      </p:sp>
      <p:pic>
        <p:nvPicPr>
          <p:cNvPr id="20" name="Image 2" descr="/private/tmp/claude-501/-Users-mk-Desktop-workspace-2026-village-of-shadows/d65423eb-a117-4f86-892b-10a5dc598ecd/scratchpad/deck/icons/vo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3511296"/>
            <a:ext cx="329184" cy="329184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260726" y="4133088"/>
            <a:ext cx="167024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5260726" y="4480560"/>
            <a:ext cx="16702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suspends here</a:t>
            </a:r>
            <a:endParaRPr lang="en-US" sz="950" dirty="0"/>
          </a:p>
        </p:txBody>
      </p:sp>
      <p:sp>
        <p:nvSpPr>
          <p:cNvPr id="23" name="Text 18"/>
          <p:cNvSpPr/>
          <p:nvPr/>
        </p:nvSpPr>
        <p:spPr>
          <a:xfrm>
            <a:off x="7022409" y="3493008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6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4" name="Shape 19"/>
          <p:cNvSpPr/>
          <p:nvPr/>
        </p:nvSpPr>
        <p:spPr>
          <a:xfrm>
            <a:off x="7342449" y="3108960"/>
            <a:ext cx="1853123" cy="1828800"/>
          </a:xfrm>
          <a:prstGeom prst="roundRect">
            <a:avLst>
              <a:gd name="adj" fmla="val 4000"/>
            </a:avLst>
          </a:prstGeom>
          <a:solidFill>
            <a:srgbClr val="1C1926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7939827" y="3346704"/>
            <a:ext cx="658368" cy="658368"/>
          </a:xfrm>
          <a:prstGeom prst="ellipse">
            <a:avLst/>
          </a:prstGeom>
          <a:solidFill>
            <a:srgbClr val="1C1926"/>
          </a:solidFill>
          <a:ln w="15875">
            <a:solidFill>
              <a:srgbClr val="D9A441"/>
            </a:solidFill>
            <a:prstDash val="solid"/>
          </a:ln>
        </p:spPr>
      </p:sp>
      <p:pic>
        <p:nvPicPr>
          <p:cNvPr id="26" name="Image 3" descr="/private/tmp/claude-501/-Users-mk-Desktop-workspace-2026-village-of-shadows/d65423eb-a117-4f86-892b-10a5dc598ecd/scratchpad/deck/icons/balanc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4419" y="3511296"/>
            <a:ext cx="329184" cy="329184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433889" y="4133088"/>
            <a:ext cx="167024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</a:t>
            </a:r>
            <a:endParaRPr lang="en-US" sz="1300" dirty="0"/>
          </a:p>
        </p:txBody>
      </p:sp>
      <p:sp>
        <p:nvSpPr>
          <p:cNvPr id="28" name="Text 22"/>
          <p:cNvSpPr/>
          <p:nvPr/>
        </p:nvSpPr>
        <p:spPr>
          <a:xfrm>
            <a:off x="7433889" y="4480560"/>
            <a:ext cx="16702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decide</a:t>
            </a:r>
            <a:endParaRPr lang="en-US" sz="950" dirty="0"/>
          </a:p>
        </p:txBody>
      </p:sp>
      <p:sp>
        <p:nvSpPr>
          <p:cNvPr id="29" name="Text 23"/>
          <p:cNvSpPr/>
          <p:nvPr/>
        </p:nvSpPr>
        <p:spPr>
          <a:xfrm>
            <a:off x="9195572" y="3493008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6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0" name="Shape 24"/>
          <p:cNvSpPr/>
          <p:nvPr/>
        </p:nvSpPr>
        <p:spPr>
          <a:xfrm>
            <a:off x="9515612" y="3108960"/>
            <a:ext cx="1853123" cy="1828800"/>
          </a:xfrm>
          <a:prstGeom prst="roundRect">
            <a:avLst>
              <a:gd name="adj" fmla="val 4000"/>
            </a:avLst>
          </a:prstGeom>
          <a:solidFill>
            <a:srgbClr val="1C1926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10112990" y="3346704"/>
            <a:ext cx="658368" cy="658368"/>
          </a:xfrm>
          <a:prstGeom prst="ellipse">
            <a:avLst/>
          </a:prstGeom>
          <a:solidFill>
            <a:srgbClr val="1C1926"/>
          </a:solidFill>
          <a:ln w="15875">
            <a:solidFill>
              <a:srgbClr val="D9A441"/>
            </a:solidFill>
            <a:prstDash val="solid"/>
          </a:ln>
        </p:spPr>
      </p:sp>
      <p:pic>
        <p:nvPicPr>
          <p:cNvPr id="32" name="Image 4" descr="/private/tmp/claude-501/-Users-mk-Desktop-workspace-2026-village-of-shadows/d65423eb-a117-4f86-892b-10a5dc598ecd/scratchpad/deck/icons/sync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77582" y="3511296"/>
            <a:ext cx="329184" cy="329184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9607052" y="4133088"/>
            <a:ext cx="167024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ROUND</a:t>
            </a:r>
            <a:endParaRPr lang="en-US" sz="1300" dirty="0"/>
          </a:p>
        </p:txBody>
      </p:sp>
      <p:sp>
        <p:nvSpPr>
          <p:cNvPr id="34" name="Text 27"/>
          <p:cNvSpPr/>
          <p:nvPr/>
        </p:nvSpPr>
        <p:spPr>
          <a:xfrm>
            <a:off x="9607052" y="4480560"/>
            <a:ext cx="16702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carries on</a:t>
            </a:r>
            <a:endParaRPr lang="en-US" sz="950" dirty="0"/>
          </a:p>
        </p:txBody>
      </p:sp>
      <p:sp>
        <p:nvSpPr>
          <p:cNvPr id="35" name="Text 28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50" kern="0" dirty="0">
                <a:solidFill>
                  <a:srgbClr val="8A6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BOUNDLESS AGENTS  ·  AI + EDUCATION</a:t>
            </a:r>
            <a:endParaRPr lang="en-US" sz="900" dirty="0"/>
          </a:p>
        </p:txBody>
      </p:sp>
      <p:sp>
        <p:nvSpPr>
          <p:cNvPr id="36" name="Text 29"/>
          <p:cNvSpPr/>
          <p:nvPr/>
        </p:nvSpPr>
        <p:spPr>
          <a:xfrm>
            <a:off x="1090879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6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PERSPECTIVES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500" b="1" dirty="0">
                <a:solidFill>
                  <a:srgbClr val="F5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seat lives in a different version of the same conversation.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observability isn't a diagram — it changes what each agent believes and does.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514600"/>
            <a:ext cx="3393338" cy="3566160"/>
          </a:xfrm>
          <a:prstGeom prst="roundRect">
            <a:avLst>
              <a:gd name="adj" fmla="val 2156"/>
            </a:avLst>
          </a:prstGeom>
          <a:solidFill>
            <a:srgbClr val="1C1926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752344"/>
            <a:ext cx="658368" cy="658368"/>
          </a:xfrm>
          <a:prstGeom prst="ellipse">
            <a:avLst/>
          </a:prstGeom>
          <a:solidFill>
            <a:srgbClr val="1C1926"/>
          </a:solidFill>
          <a:ln w="15875">
            <a:solidFill>
              <a:srgbClr val="D9A441"/>
            </a:solidFill>
            <a:prstDash val="solid"/>
          </a:ln>
        </p:spPr>
      </p:sp>
      <p:pic>
        <p:nvPicPr>
          <p:cNvPr id="7" name="Image 0" descr="/private/tmp/claude-501/-Users-mk-Desktop-workspace-2026-village-of-shadows/d65423eb-a117-4f86-892b-10a5dc598ecd/scratchpad/deck/icons/ey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2916936"/>
            <a:ext cx="329184" cy="32918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45920" y="2807208"/>
            <a:ext cx="2204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SEER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60120" y="3657600"/>
            <a:ext cx="275325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20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claims made at the table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20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result of last night’s check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20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of every past round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99178" y="2514600"/>
            <a:ext cx="3393338" cy="3566160"/>
          </a:xfrm>
          <a:prstGeom prst="roundRect">
            <a:avLst>
              <a:gd name="adj" fmla="val 2156"/>
            </a:avLst>
          </a:prstGeom>
          <a:solidFill>
            <a:srgbClr val="1C1926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36922" y="2752344"/>
            <a:ext cx="658368" cy="658368"/>
          </a:xfrm>
          <a:prstGeom prst="ellipse">
            <a:avLst/>
          </a:prstGeom>
          <a:solidFill>
            <a:srgbClr val="1C1926"/>
          </a:solidFill>
          <a:ln w="15875">
            <a:solidFill>
              <a:srgbClr val="D9A441"/>
            </a:solidFill>
            <a:prstDash val="solid"/>
          </a:ln>
        </p:spPr>
      </p:sp>
      <p:pic>
        <p:nvPicPr>
          <p:cNvPr id="12" name="Image 1" descr="/private/tmp/claude-501/-Users-mk-Desktop-workspace-2026-village-of-shadows/d65423eb-a117-4f86-892b-10a5dc598ecd/scratchpad/deck/icons/us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1514" y="2916936"/>
            <a:ext cx="329184" cy="32918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405018" y="2807208"/>
            <a:ext cx="2204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VILLAGER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719218" y="3657600"/>
            <a:ext cx="275325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20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claims and votes only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20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private night information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20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of every past round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158277" y="2514600"/>
            <a:ext cx="3393338" cy="3566160"/>
          </a:xfrm>
          <a:prstGeom prst="roundRect">
            <a:avLst>
              <a:gd name="adj" fmla="val 2156"/>
            </a:avLst>
          </a:prstGeom>
          <a:solidFill>
            <a:srgbClr val="1C1926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396021" y="2752344"/>
            <a:ext cx="658368" cy="658368"/>
          </a:xfrm>
          <a:prstGeom prst="ellipse">
            <a:avLst/>
          </a:prstGeom>
          <a:solidFill>
            <a:srgbClr val="1C1926"/>
          </a:solidFill>
          <a:ln w="15875">
            <a:solidFill>
              <a:srgbClr val="C1495A"/>
            </a:solidFill>
            <a:prstDash val="solid"/>
          </a:ln>
        </p:spPr>
      </p:sp>
      <p:pic>
        <p:nvPicPr>
          <p:cNvPr id="17" name="Image 2" descr="/private/tmp/claude-501/-Users-mk-Desktop-workspace-2026-village-of-shadows/d65423eb-a117-4f86-892b-10a5dc598ecd/scratchpad/deck/icons/mas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0613" y="2916936"/>
            <a:ext cx="329184" cy="32918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164117" y="2807208"/>
            <a:ext cx="2204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C149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WEREWOLF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8478317" y="3657600"/>
            <a:ext cx="275325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20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claims — and the lie to protect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20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of their fellow werewolf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20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private plan for the vote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640080" y="630936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round. Different evidence. Different truth.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F5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Structure makes autonomous behavior safe, stateful, and inspectable.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2522144" cy="3703320"/>
          </a:xfrm>
          <a:prstGeom prst="roundRect">
            <a:avLst>
              <a:gd name="adj" fmla="val 2900"/>
            </a:avLst>
          </a:prstGeom>
          <a:solidFill>
            <a:srgbClr val="1C1926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58252" y="2153412"/>
            <a:ext cx="685800" cy="685800"/>
          </a:xfrm>
          <a:prstGeom prst="ellipse">
            <a:avLst/>
          </a:prstGeom>
          <a:solidFill>
            <a:srgbClr val="1C1926"/>
          </a:solidFill>
          <a:ln w="15875">
            <a:solidFill>
              <a:srgbClr val="D9A441"/>
            </a:solidFill>
            <a:prstDash val="solid"/>
          </a:ln>
        </p:spPr>
      </p:sp>
      <p:pic>
        <p:nvPicPr>
          <p:cNvPr id="6" name="Image 0" descr="/private/tmp/claude-501/-Users-mk-Desktop-workspace-2026-village-of-shadows/d65423eb-a117-4f86-892b-10a5dc598ecd/scratchpad/deck/icons/site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9702" y="2324862"/>
            <a:ext cx="342900" cy="3429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3044952"/>
            <a:ext cx="2247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14400" y="3566160"/>
            <a:ext cx="197350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5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5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&amp; phases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5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436544" y="1874520"/>
            <a:ext cx="2522144" cy="3703320"/>
          </a:xfrm>
          <a:prstGeom prst="roundRect">
            <a:avLst>
              <a:gd name="adj" fmla="val 2900"/>
            </a:avLst>
          </a:prstGeom>
          <a:solidFill>
            <a:srgbClr val="1C1926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354716" y="2153412"/>
            <a:ext cx="685800" cy="685800"/>
          </a:xfrm>
          <a:prstGeom prst="ellipse">
            <a:avLst/>
          </a:prstGeom>
          <a:solidFill>
            <a:srgbClr val="1C1926"/>
          </a:solidFill>
          <a:ln w="15875">
            <a:solidFill>
              <a:srgbClr val="D9A441"/>
            </a:solidFill>
            <a:prstDash val="solid"/>
          </a:ln>
        </p:spPr>
      </p:sp>
      <p:pic>
        <p:nvPicPr>
          <p:cNvPr id="11" name="Image 1" descr="/private/tmp/claude-501/-Users-mk-Desktop-workspace-2026-village-of-shadows/d65423eb-a117-4f86-892b-10a5dc598ecd/scratchpad/deck/icons/deskt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166" y="2324862"/>
            <a:ext cx="342900" cy="3429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73704" y="3044952"/>
            <a:ext cx="2247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+ UI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710864" y="3566160"/>
            <a:ext cx="197350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5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5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council chamber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5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activity stream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233008" y="1874520"/>
            <a:ext cx="2522144" cy="3703320"/>
          </a:xfrm>
          <a:prstGeom prst="roundRect">
            <a:avLst>
              <a:gd name="adj" fmla="val 2900"/>
            </a:avLst>
          </a:prstGeom>
          <a:solidFill>
            <a:srgbClr val="1C1926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151180" y="2153412"/>
            <a:ext cx="685800" cy="685800"/>
          </a:xfrm>
          <a:prstGeom prst="ellipse">
            <a:avLst/>
          </a:prstGeom>
          <a:solidFill>
            <a:srgbClr val="1C1926"/>
          </a:solidFill>
          <a:ln w="15875">
            <a:solidFill>
              <a:srgbClr val="D9A441"/>
            </a:solidFill>
            <a:prstDash val="solid"/>
          </a:ln>
        </p:spPr>
      </p:sp>
      <p:pic>
        <p:nvPicPr>
          <p:cNvPr id="16" name="Image 2" descr="/private/tmp/claude-501/-Users-mk-Desktop-workspace-2026-village-of-shadows/d65423eb-a117-4f86-892b-10a5dc598ecd/scratchpad/deck/icons/bra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30" y="2324862"/>
            <a:ext cx="342900" cy="3429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370168" y="3044952"/>
            <a:ext cx="2247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MINDS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507328" y="3566160"/>
            <a:ext cx="197350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5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5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preflight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5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private histories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9029471" y="1874520"/>
            <a:ext cx="2522144" cy="3703320"/>
          </a:xfrm>
          <a:prstGeom prst="roundRect">
            <a:avLst>
              <a:gd name="adj" fmla="val 2900"/>
            </a:avLst>
          </a:prstGeom>
          <a:solidFill>
            <a:srgbClr val="1C1926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947643" y="2153412"/>
            <a:ext cx="685800" cy="685800"/>
          </a:xfrm>
          <a:prstGeom prst="ellipse">
            <a:avLst/>
          </a:prstGeom>
          <a:solidFill>
            <a:srgbClr val="1C1926"/>
          </a:solidFill>
          <a:ln w="15875">
            <a:solidFill>
              <a:srgbClr val="D9A441"/>
            </a:solidFill>
            <a:prstDash val="solid"/>
          </a:ln>
        </p:spPr>
      </p:sp>
      <p:pic>
        <p:nvPicPr>
          <p:cNvPr id="21" name="Image 3" descr="/private/tmp/claude-501/-Users-mk-Desktop-workspace-2026-village-of-shadows/d65423eb-a117-4f86-892b-10a5dc598ecd/scratchpad/deck/icons/cog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9093" y="2324862"/>
            <a:ext cx="342900" cy="34290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166631" y="3044952"/>
            <a:ext cx="2247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9303791" y="3566160"/>
            <a:ext cx="197350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5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actions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5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validation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5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rule boundary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640080" y="59893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checkpoints  ·  per-seat memory  ·  replay-safe state  ·  model-neutral adapters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50" kern="0" dirty="0">
                <a:solidFill>
                  <a:srgbClr val="8A6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BOUNDLESS AGENTS  ·  AI + EDUCATION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090879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6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CLOSED-LOOP LEARNING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500" b="1" dirty="0">
                <a:solidFill>
                  <a:srgbClr val="F5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complete game becomes a repeatable learning experiment.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session begins with a hypothesis and ends with evidence the learner can inspect, explain, and compare.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3454298" cy="1481328"/>
          </a:xfrm>
          <a:prstGeom prst="roundRect">
            <a:avLst>
              <a:gd name="adj" fmla="val 4938"/>
            </a:avLst>
          </a:prstGeom>
          <a:solidFill>
            <a:srgbClr val="1C1926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1248" y="273405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A6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307994" y="2706624"/>
            <a:ext cx="566928" cy="566928"/>
          </a:xfrm>
          <a:prstGeom prst="ellipse">
            <a:avLst/>
          </a:prstGeom>
          <a:solidFill>
            <a:srgbClr val="1C1926"/>
          </a:solidFill>
          <a:ln w="15875">
            <a:solidFill>
              <a:srgbClr val="D9A441"/>
            </a:solidFill>
            <a:prstDash val="solid"/>
          </a:ln>
        </p:spPr>
      </p:sp>
      <p:pic>
        <p:nvPicPr>
          <p:cNvPr id="8" name="Image 0" descr="/private/tmp/claude-501/-Users-mk-Desktop-workspace-2026-village-of-shadows/d65423eb-a117-4f86-892b-10a5dc598ecd/scratchpad/deck/icons/co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49726" y="2848356"/>
            <a:ext cx="283464" cy="28346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41248" y="3227832"/>
            <a:ext cx="30519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41248" y="3538728"/>
            <a:ext cx="30519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Models, roles, personalities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368698" y="2606040"/>
            <a:ext cx="3454298" cy="1481328"/>
          </a:xfrm>
          <a:prstGeom prst="roundRect">
            <a:avLst>
              <a:gd name="adj" fmla="val 4938"/>
            </a:avLst>
          </a:prstGeom>
          <a:solidFill>
            <a:srgbClr val="1C1926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569866" y="273405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A6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7036613" y="2706624"/>
            <a:ext cx="566928" cy="566928"/>
          </a:xfrm>
          <a:prstGeom prst="ellipse">
            <a:avLst/>
          </a:prstGeom>
          <a:solidFill>
            <a:srgbClr val="1C1926"/>
          </a:solidFill>
          <a:ln w="15875">
            <a:solidFill>
              <a:srgbClr val="D9A441"/>
            </a:solidFill>
            <a:prstDash val="solid"/>
          </a:ln>
        </p:spPr>
      </p:sp>
      <p:pic>
        <p:nvPicPr>
          <p:cNvPr id="14" name="Image 1" descr="/private/tmp/claude-501/-Users-mk-Desktop-workspace-2026-village-of-shadows/d65423eb-a117-4f86-892b-10a5dc598ecd/scratchpad/deck/icons/bullsey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345" y="2848356"/>
            <a:ext cx="283464" cy="28346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569866" y="3227832"/>
            <a:ext cx="30519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4569866" y="3538728"/>
            <a:ext cx="30519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behavior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8097317" y="2606040"/>
            <a:ext cx="3454298" cy="1481328"/>
          </a:xfrm>
          <a:prstGeom prst="roundRect">
            <a:avLst>
              <a:gd name="adj" fmla="val 4938"/>
            </a:avLst>
          </a:prstGeom>
          <a:solidFill>
            <a:srgbClr val="1C1926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8298485" y="273405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A6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" dirty="0"/>
          </a:p>
        </p:txBody>
      </p:sp>
      <p:sp>
        <p:nvSpPr>
          <p:cNvPr id="19" name="Shape 15"/>
          <p:cNvSpPr/>
          <p:nvPr/>
        </p:nvSpPr>
        <p:spPr>
          <a:xfrm>
            <a:off x="10765231" y="2706624"/>
            <a:ext cx="566928" cy="566928"/>
          </a:xfrm>
          <a:prstGeom prst="ellipse">
            <a:avLst/>
          </a:prstGeom>
          <a:solidFill>
            <a:srgbClr val="1C1926"/>
          </a:solidFill>
          <a:ln w="15875">
            <a:solidFill>
              <a:srgbClr val="D9A441"/>
            </a:solidFill>
            <a:prstDash val="solid"/>
          </a:ln>
        </p:spPr>
      </p:sp>
      <p:pic>
        <p:nvPicPr>
          <p:cNvPr id="20" name="Image 2" descr="/private/tmp/claude-501/-Users-mk-Desktop-workspace-2026-village-of-shadows/d65423eb-a117-4f86-892b-10a5dc598ecd/scratchpad/deck/icons/comment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6963" y="2848356"/>
            <a:ext cx="283464" cy="283464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298485" y="3227832"/>
            <a:ext cx="30519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8298485" y="3538728"/>
            <a:ext cx="30519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Speak, vote, night action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640080" y="4343400"/>
            <a:ext cx="3454298" cy="1481328"/>
          </a:xfrm>
          <a:prstGeom prst="roundRect">
            <a:avLst>
              <a:gd name="adj" fmla="val 4938"/>
            </a:avLst>
          </a:prstGeom>
          <a:solidFill>
            <a:srgbClr val="1C1926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Text 19"/>
          <p:cNvSpPr/>
          <p:nvPr/>
        </p:nvSpPr>
        <p:spPr>
          <a:xfrm>
            <a:off x="841248" y="447141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A6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000" dirty="0"/>
          </a:p>
        </p:txBody>
      </p:sp>
      <p:sp>
        <p:nvSpPr>
          <p:cNvPr id="25" name="Shape 20"/>
          <p:cNvSpPr/>
          <p:nvPr/>
        </p:nvSpPr>
        <p:spPr>
          <a:xfrm>
            <a:off x="3307994" y="4443984"/>
            <a:ext cx="566928" cy="566928"/>
          </a:xfrm>
          <a:prstGeom prst="ellipse">
            <a:avLst/>
          </a:prstGeom>
          <a:solidFill>
            <a:srgbClr val="1C1926"/>
          </a:solidFill>
          <a:ln w="15875">
            <a:solidFill>
              <a:srgbClr val="D9A441"/>
            </a:solidFill>
            <a:prstDash val="solid"/>
          </a:ln>
        </p:spPr>
      </p:sp>
      <p:pic>
        <p:nvPicPr>
          <p:cNvPr id="26" name="Image 3" descr="/private/tmp/claude-501/-Users-mk-Desktop-workspace-2026-village-of-shadows/d65423eb-a117-4f86-892b-10a5dc598ecd/scratchpad/deck/icons/ey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9726" y="4585716"/>
            <a:ext cx="283464" cy="283464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841248" y="4965192"/>
            <a:ext cx="30519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</a:t>
            </a:r>
            <a:endParaRPr lang="en-US" sz="1300" dirty="0"/>
          </a:p>
        </p:txBody>
      </p:sp>
      <p:sp>
        <p:nvSpPr>
          <p:cNvPr id="28" name="Text 22"/>
          <p:cNvSpPr/>
          <p:nvPr/>
        </p:nvSpPr>
        <p:spPr>
          <a:xfrm>
            <a:off x="841248" y="5276088"/>
            <a:ext cx="30519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State, memory, tool calls</a:t>
            </a:r>
            <a:endParaRPr lang="en-US" sz="1050" dirty="0"/>
          </a:p>
        </p:txBody>
      </p:sp>
      <p:sp>
        <p:nvSpPr>
          <p:cNvPr id="29" name="Shape 23"/>
          <p:cNvSpPr/>
          <p:nvPr/>
        </p:nvSpPr>
        <p:spPr>
          <a:xfrm>
            <a:off x="4368698" y="4343400"/>
            <a:ext cx="3454298" cy="1481328"/>
          </a:xfrm>
          <a:prstGeom prst="roundRect">
            <a:avLst>
              <a:gd name="adj" fmla="val 4938"/>
            </a:avLst>
          </a:prstGeom>
          <a:solidFill>
            <a:srgbClr val="1C1926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Text 24"/>
          <p:cNvSpPr/>
          <p:nvPr/>
        </p:nvSpPr>
        <p:spPr>
          <a:xfrm>
            <a:off x="4569866" y="447141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A6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000" dirty="0"/>
          </a:p>
        </p:txBody>
      </p:sp>
      <p:sp>
        <p:nvSpPr>
          <p:cNvPr id="31" name="Shape 25"/>
          <p:cNvSpPr/>
          <p:nvPr/>
        </p:nvSpPr>
        <p:spPr>
          <a:xfrm>
            <a:off x="7036613" y="4443984"/>
            <a:ext cx="566928" cy="566928"/>
          </a:xfrm>
          <a:prstGeom prst="ellipse">
            <a:avLst/>
          </a:prstGeom>
          <a:solidFill>
            <a:srgbClr val="1C1926"/>
          </a:solidFill>
          <a:ln w="15875">
            <a:solidFill>
              <a:srgbClr val="D9A441"/>
            </a:solidFill>
            <a:prstDash val="solid"/>
          </a:ln>
        </p:spPr>
      </p:sp>
      <p:pic>
        <p:nvPicPr>
          <p:cNvPr id="32" name="Image 4" descr="/private/tmp/claude-501/-Users-mk-Desktop-workspace-2026-village-of-shadows/d65423eb-a117-4f86-892b-10a5dc598ecd/scratchpad/deck/icons/boo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8345" y="4585716"/>
            <a:ext cx="283464" cy="283464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4569866" y="4965192"/>
            <a:ext cx="30519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DEBRIEF</a:t>
            </a:r>
            <a:endParaRPr lang="en-US" sz="1300" dirty="0"/>
          </a:p>
        </p:txBody>
      </p:sp>
      <p:sp>
        <p:nvSpPr>
          <p:cNvPr id="34" name="Text 27"/>
          <p:cNvSpPr/>
          <p:nvPr/>
        </p:nvSpPr>
        <p:spPr>
          <a:xfrm>
            <a:off x="4569866" y="5276088"/>
            <a:ext cx="30519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clues, failure, surprise</a:t>
            </a:r>
            <a:endParaRPr lang="en-US" sz="1050" dirty="0"/>
          </a:p>
        </p:txBody>
      </p:sp>
      <p:sp>
        <p:nvSpPr>
          <p:cNvPr id="35" name="Shape 28"/>
          <p:cNvSpPr/>
          <p:nvPr/>
        </p:nvSpPr>
        <p:spPr>
          <a:xfrm>
            <a:off x="8097317" y="4343400"/>
            <a:ext cx="3454298" cy="1481328"/>
          </a:xfrm>
          <a:prstGeom prst="roundRect">
            <a:avLst>
              <a:gd name="adj" fmla="val 4938"/>
            </a:avLst>
          </a:prstGeom>
          <a:solidFill>
            <a:srgbClr val="1C1926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6" name="Text 29"/>
          <p:cNvSpPr/>
          <p:nvPr/>
        </p:nvSpPr>
        <p:spPr>
          <a:xfrm>
            <a:off x="8298485" y="447141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A6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000" dirty="0"/>
          </a:p>
        </p:txBody>
      </p:sp>
      <p:sp>
        <p:nvSpPr>
          <p:cNvPr id="37" name="Shape 30"/>
          <p:cNvSpPr/>
          <p:nvPr/>
        </p:nvSpPr>
        <p:spPr>
          <a:xfrm>
            <a:off x="10765231" y="4443984"/>
            <a:ext cx="566928" cy="566928"/>
          </a:xfrm>
          <a:prstGeom prst="ellipse">
            <a:avLst/>
          </a:prstGeom>
          <a:solidFill>
            <a:srgbClr val="1C1926"/>
          </a:solidFill>
          <a:ln w="15875">
            <a:solidFill>
              <a:srgbClr val="D9A441"/>
            </a:solidFill>
            <a:prstDash val="solid"/>
          </a:ln>
        </p:spPr>
      </p:sp>
      <p:pic>
        <p:nvPicPr>
          <p:cNvPr id="38" name="Image 5" descr="/private/tmp/claude-501/-Users-mk-Desktop-workspace-2026-village-of-shadows/d65423eb-a117-4f86-892b-10a5dc598ecd/scratchpad/deck/icons/syn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06963" y="4585716"/>
            <a:ext cx="283464" cy="283464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8298485" y="4965192"/>
            <a:ext cx="30519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</a:t>
            </a:r>
            <a:endParaRPr lang="en-US" sz="1300" dirty="0"/>
          </a:p>
        </p:txBody>
      </p:sp>
      <p:sp>
        <p:nvSpPr>
          <p:cNvPr id="40" name="Text 32"/>
          <p:cNvSpPr/>
          <p:nvPr/>
        </p:nvSpPr>
        <p:spPr>
          <a:xfrm>
            <a:off x="8298485" y="5276088"/>
            <a:ext cx="30519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 with a different mind</a:t>
            </a:r>
            <a:endParaRPr lang="en-US" sz="1050" dirty="0"/>
          </a:p>
        </p:txBody>
      </p:sp>
      <p:sp>
        <p:nvSpPr>
          <p:cNvPr id="41" name="Text 33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50" kern="0" dirty="0">
                <a:solidFill>
                  <a:srgbClr val="8A6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BOUNDLESS AGENTS  ·  AI + EDUCATION</a:t>
            </a:r>
            <a:endParaRPr lang="en-US" sz="900" dirty="0"/>
          </a:p>
        </p:txBody>
      </p:sp>
      <p:sp>
        <p:nvSpPr>
          <p:cNvPr id="42" name="Text 34"/>
          <p:cNvSpPr/>
          <p:nvPr/>
        </p:nvSpPr>
        <p:spPr>
          <a:xfrm>
            <a:off x="1090879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6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13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k/Desktop/workspace/2026/village-of-shadows/submission/goai-2026/unpacked-broken/ppt/media/image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5131B"/>
          </a:solidFill>
          <a:ln/>
        </p:spPr>
      </p:sp>
      <p:sp>
        <p:nvSpPr>
          <p:cNvPr id="4" name="Text 1"/>
          <p:cNvSpPr/>
          <p:nvPr/>
        </p:nvSpPr>
        <p:spPr>
          <a:xfrm>
            <a:off x="502920" y="5486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" y="1051560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F5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God Mode reveals what dialogue hides.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02920" y="214884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words are only one layer of an agent’s behavior.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2880360"/>
            <a:ext cx="365760" cy="365760"/>
          </a:xfrm>
          <a:prstGeom prst="ellipse">
            <a:avLst/>
          </a:prstGeom>
          <a:solidFill>
            <a:srgbClr val="1C1926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02920" y="2880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987552" y="28803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+ private context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02920" y="3392424"/>
            <a:ext cx="365760" cy="365760"/>
          </a:xfrm>
          <a:prstGeom prst="ellipse">
            <a:avLst/>
          </a:prstGeom>
          <a:solidFill>
            <a:srgbClr val="1C1926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" y="33924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987552" y="339242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rationale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02920" y="3904488"/>
            <a:ext cx="365760" cy="365760"/>
          </a:xfrm>
          <a:prstGeom prst="ellipse">
            <a:avLst/>
          </a:prstGeom>
          <a:solidFill>
            <a:srgbClr val="1C1926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02920" y="3904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987552" y="390448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+ trust signals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02920" y="4416552"/>
            <a:ext cx="365760" cy="365760"/>
          </a:xfrm>
          <a:prstGeom prst="ellipse">
            <a:avLst/>
          </a:prstGeom>
          <a:solidFill>
            <a:srgbClr val="1C1926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2920" y="4416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987552" y="44165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 + decision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02920" y="61722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 view — not hidden chain-of-thought.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k/Desktop/workspace/2026/village-of-shadows/submission/goai-2026/unpacked-broken/ppt/media/image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5131B"/>
          </a:solidFill>
          <a:ln/>
        </p:spPr>
      </p:sp>
      <p:sp>
        <p:nvSpPr>
          <p:cNvPr id="4" name="Text 1"/>
          <p:cNvSpPr/>
          <p:nvPr/>
        </p:nvSpPr>
        <p:spPr>
          <a:xfrm>
            <a:off x="502920" y="5486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MULTI-MODEL EXPERIMENT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" y="105156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F5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evidence. Different minds.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02920" y="192024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seat can run a different provider, model, and personality.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02920" y="269748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CAUTIOUS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02920" y="2962656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for another round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502920" y="3410712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AGGRESSIVE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02920" y="367588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Forces an early vote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02920" y="412394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DECEPTIVE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02920" y="43891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Redirects suspicion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02920" y="4837176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ANALYTICAL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02920" y="510235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prior claims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502920" y="603504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Preflight validation tests every configured model before the game begins.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EVIDENCE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F5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is a working product, not a concept deck.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 game loop runs across the browser UI, orchestration, agent minds, MCP actions, persistence, and live events.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834640"/>
            <a:ext cx="1962851" cy="1691640"/>
          </a:xfrm>
          <a:prstGeom prst="roundRect">
            <a:avLst>
              <a:gd name="adj" fmla="val 4324"/>
            </a:avLst>
          </a:prstGeom>
          <a:solidFill>
            <a:srgbClr val="1C1926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2999232"/>
            <a:ext cx="196285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749808" y="3886200"/>
            <a:ext cx="17433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SEATS AT THE TABLE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877251" y="2834640"/>
            <a:ext cx="1962851" cy="1691640"/>
          </a:xfrm>
          <a:prstGeom prst="roundRect">
            <a:avLst>
              <a:gd name="adj" fmla="val 4324"/>
            </a:avLst>
          </a:prstGeom>
          <a:solidFill>
            <a:srgbClr val="1C1926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877251" y="2999232"/>
            <a:ext cx="196285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: 1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2986979" y="3886200"/>
            <a:ext cx="17433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PER HUMAN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114422" y="2834640"/>
            <a:ext cx="1962851" cy="1691640"/>
          </a:xfrm>
          <a:prstGeom prst="roundRect">
            <a:avLst>
              <a:gd name="adj" fmla="val 4324"/>
            </a:avLst>
          </a:prstGeom>
          <a:solidFill>
            <a:srgbClr val="1C1926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114422" y="2999232"/>
            <a:ext cx="196285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4+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224150" y="3886200"/>
            <a:ext cx="17433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PROVIDERS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351593" y="2834640"/>
            <a:ext cx="1962851" cy="1691640"/>
          </a:xfrm>
          <a:prstGeom prst="roundRect">
            <a:avLst>
              <a:gd name="adj" fmla="val 4324"/>
            </a:avLst>
          </a:prstGeom>
          <a:solidFill>
            <a:srgbClr val="1C1926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351593" y="2999232"/>
            <a:ext cx="196285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7461321" y="3886200"/>
            <a:ext cx="17433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BACKEND TESTS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588764" y="2834640"/>
            <a:ext cx="1962851" cy="1691640"/>
          </a:xfrm>
          <a:prstGeom prst="roundRect">
            <a:avLst>
              <a:gd name="adj" fmla="val 4324"/>
            </a:avLst>
          </a:prstGeom>
          <a:solidFill>
            <a:srgbClr val="1C1926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588764" y="2999232"/>
            <a:ext cx="196285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3D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9698492" y="3886200"/>
            <a:ext cx="17433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COUNCIL CHAMBER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0080" y="50749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preflight  ·  SSE streaming  ·  checkpoints  ·  God Mode  ·  automated tests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50" kern="0" dirty="0">
                <a:solidFill>
                  <a:srgbClr val="8A6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BOUNDLESS AGENTS  ·  AI + EDUCATION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90879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6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13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+ OPEN VALUE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500" b="1" dirty="0">
                <a:solidFill>
                  <a:srgbClr val="F5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 enough for the classroom. Open enough to become more.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227168" cy="3703320"/>
          </a:xfrm>
          <a:prstGeom prst="roundRect">
            <a:avLst>
              <a:gd name="adj" fmla="val 1975"/>
            </a:avLst>
          </a:prstGeom>
          <a:solidFill>
            <a:srgbClr val="1C1926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2185416"/>
            <a:ext cx="658368" cy="658368"/>
          </a:xfrm>
          <a:prstGeom prst="ellipse">
            <a:avLst/>
          </a:prstGeom>
          <a:solidFill>
            <a:srgbClr val="1C1926"/>
          </a:solidFill>
          <a:ln w="15875">
            <a:solidFill>
              <a:srgbClr val="D9A441"/>
            </a:solidFill>
            <a:prstDash val="solid"/>
          </a:ln>
        </p:spPr>
      </p:sp>
      <p:pic>
        <p:nvPicPr>
          <p:cNvPr id="6" name="Image 0" descr="/private/tmp/claude-501/-Users-mk-Desktop-workspace-2026-village-of-shadows/d65423eb-a117-4f86-892b-10a5dc598ecd/scratchpad/deck/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235000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24028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TO LEARN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960120" y="3108960"/>
            <a:ext cx="4587088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25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game state — no student records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25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secret filtering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25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+ rule validation for every action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25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reviewable event trace for every game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324448" y="1965960"/>
            <a:ext cx="5227168" cy="3703320"/>
          </a:xfrm>
          <a:prstGeom prst="roundRect">
            <a:avLst>
              <a:gd name="adj" fmla="val 1975"/>
            </a:avLst>
          </a:prstGeom>
          <a:solidFill>
            <a:srgbClr val="1C1926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62192" y="2185416"/>
            <a:ext cx="658368" cy="658368"/>
          </a:xfrm>
          <a:prstGeom prst="ellipse">
            <a:avLst/>
          </a:prstGeom>
          <a:solidFill>
            <a:srgbClr val="1C1926"/>
          </a:solidFill>
          <a:ln w="15875">
            <a:solidFill>
              <a:srgbClr val="D9A441"/>
            </a:solidFill>
            <a:prstDash val="solid"/>
          </a:ln>
        </p:spPr>
      </p:sp>
      <p:pic>
        <p:nvPicPr>
          <p:cNvPr id="11" name="Image 1" descr="/private/tmp/claude-501/-Users-mk-Desktop-workspace-2026-village-of-shadows/d65423eb-a117-4f86-892b-10a5dc598ecd/scratchpad/deck/icons/puzz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6784" y="235000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30288" y="224028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TO EXTEND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6644488" y="3108960"/>
            <a:ext cx="4587088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25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models and personalities per seat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25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deterministic mock sessions for class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25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the orchestration, tools, and adapters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25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 to negotiation, ethics, or incident response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640080" y="59893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Educational simulation — not a teacher replacement or automated student assessment.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50" kern="0" dirty="0">
                <a:solidFill>
                  <a:srgbClr val="8A6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BOUNDLESS AGENTS  ·  AI + EDUCATION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090879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6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13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F5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next layer turns play into measurable learning.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orchestration core is complete. The roadmap now focuses on educator tools and comparative learning evidence.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514600"/>
            <a:ext cx="3393338" cy="3566160"/>
          </a:xfrm>
          <a:prstGeom prst="roundRect">
            <a:avLst>
              <a:gd name="adj" fmla="val 2156"/>
            </a:avLst>
          </a:prstGeom>
          <a:solidFill>
            <a:srgbClr val="1C1926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2788920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1948129" y="3177540"/>
            <a:ext cx="777240" cy="777240"/>
          </a:xfrm>
          <a:prstGeom prst="ellipse">
            <a:avLst/>
          </a:prstGeom>
          <a:solidFill>
            <a:srgbClr val="1C1926"/>
          </a:solidFill>
          <a:ln w="15875">
            <a:solidFill>
              <a:srgbClr val="D9A441"/>
            </a:solidFill>
            <a:prstDash val="solid"/>
          </a:ln>
        </p:spPr>
      </p:sp>
      <p:pic>
        <p:nvPicPr>
          <p:cNvPr id="8" name="Image 0" descr="/private/tmp/claude-501/-Users-mk-Desktop-workspace-2026-village-of-shadows/d65423eb-a117-4f86-892b-10a5dc598ecd/scratchpad/deck/icons/ro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2439" y="3371850"/>
            <a:ext cx="388620" cy="3886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2960" y="4050792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Playable Lab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1005840" y="4572000"/>
            <a:ext cx="266181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5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Game, traces, memory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5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setup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5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033418" y="40690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A6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99178" y="2514600"/>
            <a:ext cx="3393338" cy="3566160"/>
          </a:xfrm>
          <a:prstGeom prst="roundRect">
            <a:avLst>
              <a:gd name="adj" fmla="val 2156"/>
            </a:avLst>
          </a:prstGeom>
          <a:solidFill>
            <a:srgbClr val="1C1926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4673498" y="2788920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707228" y="3177540"/>
            <a:ext cx="777240" cy="777240"/>
          </a:xfrm>
          <a:prstGeom prst="ellipse">
            <a:avLst/>
          </a:prstGeom>
          <a:solidFill>
            <a:srgbClr val="1C1926"/>
          </a:solidFill>
          <a:ln w="15875">
            <a:solidFill>
              <a:srgbClr val="D9A441"/>
            </a:solidFill>
            <a:prstDash val="solid"/>
          </a:ln>
        </p:spPr>
      </p:sp>
      <p:pic>
        <p:nvPicPr>
          <p:cNvPr id="15" name="Image 1" descr="/private/tmp/claude-501/-Users-mk-Desktop-workspace-2026-village-of-shadows/d65423eb-a117-4f86-892b-10a5dc598ecd/scratchpad/deck/icons/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1538" y="3371850"/>
            <a:ext cx="388620" cy="3886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582058" y="4050792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Debrief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4764938" y="4572000"/>
            <a:ext cx="266181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5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Guided reflection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5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graph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5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plans + rubric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7792517" y="40690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A6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8158277" y="2514600"/>
            <a:ext cx="3393338" cy="3566160"/>
          </a:xfrm>
          <a:prstGeom prst="roundRect">
            <a:avLst>
              <a:gd name="adj" fmla="val 2156"/>
            </a:avLst>
          </a:prstGeom>
          <a:solidFill>
            <a:srgbClr val="1C1926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6"/>
          <p:cNvSpPr/>
          <p:nvPr/>
        </p:nvSpPr>
        <p:spPr>
          <a:xfrm>
            <a:off x="8432597" y="2788920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9466326" y="3177540"/>
            <a:ext cx="777240" cy="777240"/>
          </a:xfrm>
          <a:prstGeom prst="ellipse">
            <a:avLst/>
          </a:prstGeom>
          <a:solidFill>
            <a:srgbClr val="1C1926"/>
          </a:solidFill>
          <a:ln w="15875">
            <a:solidFill>
              <a:srgbClr val="D9A441"/>
            </a:solidFill>
            <a:prstDash val="solid"/>
          </a:ln>
        </p:spPr>
      </p:sp>
      <p:pic>
        <p:nvPicPr>
          <p:cNvPr id="22" name="Image 2" descr="/private/tmp/claude-501/-Users-mk-Desktop-workspace-2026-village-of-shadows/d65423eb-a117-4f86-892b-10a5dc598ecd/scratchpad/deck/icons/rock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60636" y="3371850"/>
            <a:ext cx="388620" cy="38862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8341157" y="4050792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Comparative Studio</a:t>
            </a:r>
            <a:endParaRPr lang="en-US" sz="1450" dirty="0"/>
          </a:p>
        </p:txBody>
      </p:sp>
      <p:sp>
        <p:nvSpPr>
          <p:cNvPr id="24" name="Text 19"/>
          <p:cNvSpPr/>
          <p:nvPr/>
        </p:nvSpPr>
        <p:spPr>
          <a:xfrm>
            <a:off x="8524037" y="4572000"/>
            <a:ext cx="266181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5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Branching replay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5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Cohorts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5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tournaments</a:t>
            </a:r>
            <a:endParaRPr lang="en-US" sz="1150" dirty="0"/>
          </a:p>
        </p:txBody>
      </p:sp>
      <p:sp>
        <p:nvSpPr>
          <p:cNvPr id="25" name="Text 20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50" kern="0" dirty="0">
                <a:solidFill>
                  <a:srgbClr val="8A6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BOUNDLESS AGENTS  ·  AI + EDUCATION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1090879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6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13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k/Desktop/workspace/2026/village-of-shadows/submission/goai-2026/unpacked-broken/ppt/media/image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15131B"/>
          </a:solidFill>
          <a:ln/>
        </p:spPr>
      </p:sp>
      <p:sp>
        <p:nvSpPr>
          <p:cNvPr id="4" name="Text 1"/>
          <p:cNvSpPr/>
          <p:nvPr/>
        </p:nvSpPr>
        <p:spPr>
          <a:xfrm>
            <a:off x="502920" y="6400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VILLAGE OF SHADOWS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457200" y="228600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F5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Don’t just watch agents work.</a:t>
            </a:r>
            <a:endParaRPr lang="en-US" sz="29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F5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Sit among them.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502920" y="4343400"/>
            <a:ext cx="3429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i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agents identities, incomplete information, and competing objectives — then learn from the world that emerges.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02920" y="626364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79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BOUNDLESS AGENTS  ·  AI + EDUCATION  ·  WORKING PROTOTYPE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2026-08-12T17:24:24Z</dcterms:created>
  <dcterms:modified xsi:type="dcterms:W3CDTF">2026-08-12T17:24:24Z</dcterms:modified>
</cp:coreProperties>
</file>