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9e16ebc2d446f4" /><Relationship Type="http://schemas.openxmlformats.org/officeDocument/2006/relationships/extended-properties" Target="/docProps/app.xml" Id="Rce4090dd9c3b4ab4" /><Relationship Type="http://schemas.openxmlformats.org/officeDocument/2006/relationships/officeDocument" Target="/ppt/presentation.xml" Id="Rf1f19d8a0ef94b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63d9b505c1449a"/>
  </p:sldMasterIdLst>
  <p:notesMasterIdLst>
    <p:notesMasterId xmlns:r="http://schemas.openxmlformats.org/officeDocument/2006/relationships" r:id="Re0f8c9aa0c3f42af"/>
  </p:notesMasterIdLst>
  <p:sldIdLst>
    <p:sldId xmlns:r="http://schemas.openxmlformats.org/officeDocument/2006/relationships" id="256" r:id="R425ba56537d14c76"/>
    <p:sldId xmlns:r="http://schemas.openxmlformats.org/officeDocument/2006/relationships" id="257" r:id="Rdd83b8aa5de44aab"/>
    <p:sldId xmlns:r="http://schemas.openxmlformats.org/officeDocument/2006/relationships" id="258" r:id="R25703f2a869240b4"/>
    <p:sldId xmlns:r="http://schemas.openxmlformats.org/officeDocument/2006/relationships" id="259" r:id="R4eabd6e3ca404f8f"/>
    <p:sldId xmlns:r="http://schemas.openxmlformats.org/officeDocument/2006/relationships" id="260" r:id="Redf3da03658e4791"/>
    <p:sldId xmlns:r="http://schemas.openxmlformats.org/officeDocument/2006/relationships" id="261" r:id="R4a65ec437ab04684"/>
    <p:sldId xmlns:r="http://schemas.openxmlformats.org/officeDocument/2006/relationships" id="262" r:id="R5a6cd82b7ea24d71"/>
    <p:sldId xmlns:r="http://schemas.openxmlformats.org/officeDocument/2006/relationships" id="263" r:id="R5fb251bda4ea460f"/>
    <p:sldId xmlns:r="http://schemas.openxmlformats.org/officeDocument/2006/relationships" id="264" r:id="R58d5e1ee33a7401c"/>
    <p:sldId xmlns:r="http://schemas.openxmlformats.org/officeDocument/2006/relationships" id="265" r:id="Rd6f040baa61f4da8"/>
    <p:sldId xmlns:r="http://schemas.openxmlformats.org/officeDocument/2006/relationships" id="266" r:id="R668419fe2db64cb7"/>
    <p:sldId xmlns:r="http://schemas.openxmlformats.org/officeDocument/2006/relationships" id="267" r:id="R7893c133ac484bc8"/>
    <p:sldId xmlns:r="http://schemas.openxmlformats.org/officeDocument/2006/relationships" id="268" r:id="R8f4f3d88f4b74f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3a17ddb9da483e" /><Relationship Type="http://schemas.openxmlformats.org/officeDocument/2006/relationships/slideMaster" Target="/ppt/slideMasters/slideMaster1.xml" Id="R6563d9b505c1449a" /><Relationship Type="http://schemas.openxmlformats.org/officeDocument/2006/relationships/notesMaster" Target="/ppt/notesMasters/notesMaster1.xml" Id="Re0f8c9aa0c3f42af" /><Relationship Type="http://schemas.openxmlformats.org/officeDocument/2006/relationships/presProps" Target="/ppt/presProps.xml" Id="R50e2f2b882854250" /><Relationship Type="http://schemas.openxmlformats.org/officeDocument/2006/relationships/tableStyles" Target="/ppt/tableStyles.xml" Id="R41a8f8039ccf45aa" /><Relationship Type="http://schemas.openxmlformats.org/officeDocument/2006/relationships/slide" Target="/ppt/slides/slide1.xml" Id="R425ba56537d14c76" /><Relationship Type="http://schemas.openxmlformats.org/officeDocument/2006/relationships/slide" Target="/ppt/slides/slide2.xml" Id="Rdd83b8aa5de44aab" /><Relationship Type="http://schemas.openxmlformats.org/officeDocument/2006/relationships/slide" Target="/ppt/slides/slide3.xml" Id="R25703f2a869240b4" /><Relationship Type="http://schemas.openxmlformats.org/officeDocument/2006/relationships/slide" Target="/ppt/slides/slide4.xml" Id="R4eabd6e3ca404f8f" /><Relationship Type="http://schemas.openxmlformats.org/officeDocument/2006/relationships/slide" Target="/ppt/slides/slide5.xml" Id="Redf3da03658e4791" /><Relationship Type="http://schemas.openxmlformats.org/officeDocument/2006/relationships/slide" Target="/ppt/slides/slide6.xml" Id="R4a65ec437ab04684" /><Relationship Type="http://schemas.openxmlformats.org/officeDocument/2006/relationships/slide" Target="/ppt/slides/slide7.xml" Id="R5a6cd82b7ea24d71" /><Relationship Type="http://schemas.openxmlformats.org/officeDocument/2006/relationships/slide" Target="/ppt/slides/slide8.xml" Id="R5fb251bda4ea460f" /><Relationship Type="http://schemas.openxmlformats.org/officeDocument/2006/relationships/slide" Target="/ppt/slides/slide9.xml" Id="R58d5e1ee33a7401c" /><Relationship Type="http://schemas.openxmlformats.org/officeDocument/2006/relationships/slide" Target="/ppt/slides/slide10.xml" Id="Rd6f040baa61f4da8" /><Relationship Type="http://schemas.openxmlformats.org/officeDocument/2006/relationships/slide" Target="/ppt/slides/slide11.xml" Id="R668419fe2db64cb7" /><Relationship Type="http://schemas.openxmlformats.org/officeDocument/2006/relationships/slide" Target="/ppt/slides/slide12.xml" Id="R7893c133ac484bc8" /><Relationship Type="http://schemas.openxmlformats.org/officeDocument/2006/relationships/slide" Target="/ppt/slides/slide13.xml" Id="R8f4f3d88f4b74f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c702809a7546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633a511de34dfd" /><Relationship Type="http://schemas.openxmlformats.org/officeDocument/2006/relationships/notesMaster" Target="/ppt/notesMasters/notesMaster1.xml" Id="R2ff34d9e200241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97a91f4d99437e" /><Relationship Type="http://schemas.openxmlformats.org/officeDocument/2006/relationships/notesMaster" Target="/ppt/notesMasters/notesMaster1.xml" Id="R369e28d4e0ce41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a131b2e66b4e90" /><Relationship Type="http://schemas.openxmlformats.org/officeDocument/2006/relationships/notesMaster" Target="/ppt/notesMasters/notesMaster1.xml" Id="Ra5cc1643693a43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449ce488ee4a90" /><Relationship Type="http://schemas.openxmlformats.org/officeDocument/2006/relationships/notesMaster" Target="/ppt/notesMasters/notesMaster1.xml" Id="Rc17eb2c3d34a42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17cca447954484" /><Relationship Type="http://schemas.openxmlformats.org/officeDocument/2006/relationships/notesMaster" Target="/ppt/notesMasters/notesMaster1.xml" Id="R24fc292278cc47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90071a9124482f" /><Relationship Type="http://schemas.openxmlformats.org/officeDocument/2006/relationships/notesMaster" Target="/ppt/notesMasters/notesMaster1.xml" Id="R376a3370d6db4a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125767fada4d20" /><Relationship Type="http://schemas.openxmlformats.org/officeDocument/2006/relationships/notesMaster" Target="/ppt/notesMasters/notesMaster1.xml" Id="Re7405a3eb1714b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9bc411e7b64f60" /><Relationship Type="http://schemas.openxmlformats.org/officeDocument/2006/relationships/notesMaster" Target="/ppt/notesMasters/notesMaster1.xml" Id="R4bb6e21bc25547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2fafca6e97461e" /><Relationship Type="http://schemas.openxmlformats.org/officeDocument/2006/relationships/notesMaster" Target="/ppt/notesMasters/notesMaster1.xml" Id="R4898a2cb0cd54d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22c1ce5e3345bd" /><Relationship Type="http://schemas.openxmlformats.org/officeDocument/2006/relationships/notesMaster" Target="/ppt/notesMasters/notesMaster1.xml" Id="R7bcf401df1fe48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e36f56ea8e4cc3" /><Relationship Type="http://schemas.openxmlformats.org/officeDocument/2006/relationships/notesMaster" Target="/ppt/notesMasters/notesMaster1.xml" Id="R912f51f2f5f44d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3171e307aa44de0" /><Relationship Type="http://schemas.openxmlformats.org/officeDocument/2006/relationships/notesMaster" Target="/ppt/notesMasters/notesMaster1.xml" Id="Rb36c180f51f34b7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a620ca32d34a08" /><Relationship Type="http://schemas.openxmlformats.org/officeDocument/2006/relationships/notesMaster" Target="/ppt/notesMasters/notesMaster1.xml" Id="Ra7e98fa83eca4e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Village of Shadows is an experiential learning lab built inside a complete multi-agent game.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/tmp/village-goai-deck-v2/assets/cover.png</a:t>
            </a:r>
          </a:p>
          <a:p xmlns:a="http://schemas.openxmlformats.org/drawingml/2006/main">
            <a:r>
              <a:t>- /Users/mk/workspace/village-of-shadows/README.md</a:t>
            </a:r>
          </a:p>
          <a:p xmlns:a="http://schemas.openxmlformats.org/drawingml/2006/main">
            <a:r>
              <a:t>- /Users/mk/Downloads/boundless-agent.pdf, Track 2 and Topic 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educational gap is not another answer generator. It is the opportunity to experience coordination, hidden state and consequences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/tmp/village-goai-deck-v2/assets/problem-contrast.png</a:t>
            </a:r>
          </a:p>
          <a:p xmlns:a="http://schemas.openxmlformats.org/drawingml/2006/main">
            <a:r>
              <a:t>- /Users/mk/Downloads/boundless-agent.pdf, pp. 12–18</a:t>
            </a:r>
          </a:p>
          <a:p xmlns:a="http://schemas.openxmlformats.org/drawingml/2006/main">
            <a:r>
              <a:t>- /Users/mk/workspace/village-of-shadows/README.md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LangGraph governs the rules of the world while every AI seat keeps an independent private perspective.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/Users/mk/workspace/village-of-shadows/README.md</a:t>
            </a:r>
          </a:p>
          <a:p xmlns:a="http://schemas.openxmlformats.org/drawingml/2006/main">
            <a:r>
              <a:t>- /Users/mk/workspace/village-of-shadows/backend</a:t>
            </a:r>
          </a:p>
          <a:p xmlns:a="http://schemas.openxmlformats.org/drawingml/2006/main">
            <a:r>
              <a:t>- /Users/mk/Downloads/boundless-agent.pdf, pp. 7–10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human participates in the same state machine and validation boundary as the AI agents.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/Users/mk/workspace/village-of-shadows/README.md</a:t>
            </a:r>
          </a:p>
          <a:p xmlns:a="http://schemas.openxmlformats.org/drawingml/2006/main">
            <a:r>
              <a:t>- /Users/mk/workspace/village-of-shadows/backend</a:t>
            </a:r>
          </a:p>
          <a:p xmlns:a="http://schemas.openxmlformats.org/drawingml/2006/main">
            <a:r>
              <a:t>- /Users/mk/Downloads/boundless-agent.pdf, pp. 7–10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 context is enforced per seat and filtered server-side. Roles such as Seer and Werewolf receive additional authorized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/Users/mk/workspace/village-of-shadows/README.md</a:t>
            </a:r>
          </a:p>
          <a:p xmlns:a="http://schemas.openxmlformats.org/drawingml/2006/main">
            <a:r>
              <a:t>- /Users/mk/workspace/village-of-shadows/backend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graph controls state and boundaries; the agents control decisions and behavior. Persistence and validation make the system replayable and inspectable.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/Users/mk/workspace/village-of-shadows/README.md</a:t>
            </a:r>
          </a:p>
          <a:p xmlns:a="http://schemas.openxmlformats.org/drawingml/2006/main">
            <a:r>
              <a:t>- /Users/mk/workspace/village-of-shadows/backend</a:t>
            </a:r>
          </a:p>
          <a:p xmlns:a="http://schemas.openxmlformats.org/drawingml/2006/main">
            <a:r>
              <a:t>- /Users/mk/workspace/village-of-shadows/frontend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Configure, predict, participate, observe, debrief and compare form the educator-facing learning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/Users/mk/Downloads/boundless-agent.pdf, pp. 15–18</a:t>
            </a:r>
          </a:p>
          <a:p xmlns:a="http://schemas.openxmlformats.org/drawingml/2006/main">
            <a:r>
              <a:t>- /Users/mk/workspace/village-of-shadows/README.md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God Mode exposes role, private context, model-provided rationale summaries, memory, tool calls and decisions for learning and debugging. It does not claim to expose hidden chain-of-thought.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/tmp/village-goai-deck-v2/assets/god-mode.png</a:t>
            </a:r>
          </a:p>
          <a:p xmlns:a="http://schemas.openxmlformats.org/drawingml/2006/main">
            <a:r>
              <a:t>- /Users/mk/workspace/village-of-shadows/README.md</a:t>
            </a:r>
          </a:p>
          <a:p xmlns:a="http://schemas.openxmlformats.org/drawingml/2006/main">
            <a:r>
              <a:t>- /Users/mk/workspace/village-of-shadows/frontend</a:t>
            </a:r>
          </a:p>
          <a:p xmlns:a="http://schemas.openxmlformats.org/drawingml/2006/main">
            <a:r>
              <a:t>- /Users/mk/workspace/village-of-shadows/backend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Model-neutral adapters make the same world a controlled comparison environment. A preflight prevents invalid model configuration from breaking a live game.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/tmp/village-goai-deck-v2/assets/multi-model.png</a:t>
            </a:r>
          </a:p>
          <a:p xmlns:a="http://schemas.openxmlformats.org/drawingml/2006/main">
            <a:r>
              <a:t>- /Users/mk/workspace/village-of-shadows/README.md</a:t>
            </a:r>
          </a:p>
          <a:p xmlns:a="http://schemas.openxmlformats.org/drawingml/2006/main">
            <a:r>
              <a:t>- /Users/mk/workspace/village-of-shadows/backend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prototype is playable and includes the full game loop, 3D chamber, God Mode, a pre-game prediction and an evidence-backed Learning Debrief.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/Users/mk/workspace/village-of-shadows/README.md</a:t>
            </a:r>
          </a:p>
          <a:p xmlns:a="http://schemas.openxmlformats.org/drawingml/2006/main">
            <a:r>
              <a:t>- /Users/mk/workspace/village-of-shadows/backend/tests</a:t>
            </a:r>
          </a:p>
          <a:p xmlns:a="http://schemas.openxmlformats.org/drawingml/2006/main">
            <a:r>
              <a:t>- /Users/mk/workspace/village-of-shadows/frontend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system uses synthetic game data and is positioned as a learning simulation rather than teacher replacement or student assessment. Its architecture is reusable across scenario-based education.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/Users/mk/Downloads/boundless-agent.pdf, pp. 15–18</a:t>
            </a:r>
          </a:p>
          <a:p xmlns:a="http://schemas.openxmlformats.org/drawingml/2006/main">
            <a:r>
              <a:t>- /Users/mk/workspace/village-of-shadows/README.md</a:t>
            </a:r>
          </a:p>
          <a:p xmlns:a="http://schemas.openxmlformats.org/drawingml/2006/main">
            <a:r>
              <a:t>- /Users/mk/workspace/village-of-shadows/backend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learner-facing debrief is now implemented. The next step is controlled replay, exportable evidence and educator-authored lesson plans.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/Users/mk/workspace/village-of-shadows/README.md</a:t>
            </a:r>
          </a:p>
          <a:p xmlns:a="http://schemas.openxmlformats.org/drawingml/2006/main">
            <a:r>
              <a:t>- /Users/mk/workspace/village-of-shadows/frontend/components/GameSummary.tsx</a:t>
            </a:r>
          </a:p>
          <a:p xmlns:a="http://schemas.openxmlformats.org/drawingml/2006/main">
            <a:r>
              <a:t>- /Users/mk/workspace/village-of-shadows/backend/app/game/timeline.py</a:t>
            </a:r>
          </a:p>
          <a:p xmlns:a="http://schemas.openxmlformats.org/drawingml/2006/main">
            <a:r>
              <a:t>- /Users/mk/Downloads/boundless-agent.pdf, pp. 15–18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Village of Shadows makes agentic AI understandable by giving learners a place inside the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/tmp/village-goai-deck-v2/assets/cover.png</a:t>
            </a:r>
          </a:p>
          <a:p xmlns:a="http://schemas.openxmlformats.org/drawingml/2006/main">
            <a:r>
              <a:t>- /Users/mk/workspace/village-of-shadows/README.md</a:t>
            </a:r>
          </a:p>
          <a:p xmlns:a="http://schemas.openxmlformats.org/drawingml/2006/main">
            <a:r>
              <a:t>- /Users/mk/Downloads/boundless-agent.pdf, Topic 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27ce7a975545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67c97990564193" /><Relationship Type="http://schemas.openxmlformats.org/officeDocument/2006/relationships/slideLayout" Target="/ppt/slideLayouts/slideLayout1.xml" Id="Rd14934a365be42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4934a365be42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a4e85c60b40a9" /><Relationship Type="http://schemas.openxmlformats.org/officeDocument/2006/relationships/image" Target="/ppt/media/image.png" Id="R393ac23de26441df" /><Relationship Type="http://schemas.openxmlformats.org/officeDocument/2006/relationships/notesSlide" Target="/ppt/notesSlides/notesSlide1.xml" Id="R13f3a4b65b5b40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9715a3dd54ceb" /><Relationship Type="http://schemas.openxmlformats.org/officeDocument/2006/relationships/image" Target="/ppt/media/image2.png" Id="Rcd1e9f59196645ae" /><Relationship Type="http://schemas.openxmlformats.org/officeDocument/2006/relationships/notesSlide" Target="/ppt/notesSlides/notesSlide2.xml" Id="Re8dc849ee67248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b4397cc7e4e6d" /><Relationship Type="http://schemas.openxmlformats.org/officeDocument/2006/relationships/notesSlide" Target="/ppt/notesSlides/notesSlide3.xml" Id="Rc6d92fdd58ec4d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1cd0e1aec48a1" /><Relationship Type="http://schemas.openxmlformats.org/officeDocument/2006/relationships/notesSlide" Target="/ppt/notesSlides/notesSlide4.xml" Id="R27e1a0c97ce94e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a44be623d433f" /><Relationship Type="http://schemas.openxmlformats.org/officeDocument/2006/relationships/notesSlide" Target="/ppt/notesSlides/notesSlide5.xml" Id="R1e957e919ca841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e702744614919" /><Relationship Type="http://schemas.openxmlformats.org/officeDocument/2006/relationships/notesSlide" Target="/ppt/notesSlides/notesSlide6.xml" Id="Ra84c83ff1c804d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49768fcff4d78" /><Relationship Type="http://schemas.openxmlformats.org/officeDocument/2006/relationships/notesSlide" Target="/ppt/notesSlides/notesSlide7.xml" Id="R442249ed6f834d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8c556e3064211" /><Relationship Type="http://schemas.openxmlformats.org/officeDocument/2006/relationships/image" Target="/ppt/media/image3.png" Id="Rf80eb4015c0d4181" /><Relationship Type="http://schemas.openxmlformats.org/officeDocument/2006/relationships/notesSlide" Target="/ppt/notesSlides/notesSlide8.xml" Id="Reccff002e8494f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bebbd10f04b1e" /><Relationship Type="http://schemas.openxmlformats.org/officeDocument/2006/relationships/image" Target="/ppt/media/image4.png" Id="Rda444321c7c044a3" /><Relationship Type="http://schemas.openxmlformats.org/officeDocument/2006/relationships/notesSlide" Target="/ppt/notesSlides/notesSlide9.xml" Id="R18df17bc0be14b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278dba1664ad4" /><Relationship Type="http://schemas.openxmlformats.org/officeDocument/2006/relationships/notesSlide" Target="/ppt/notesSlides/notesSlide10.xml" Id="Ra19d6fc53c8643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9824470204cc2" /><Relationship Type="http://schemas.openxmlformats.org/officeDocument/2006/relationships/notesSlide" Target="/ppt/notesSlides/notesSlide11.xml" Id="Rdce99da2146d48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efd45ff9d4e4f" /><Relationship Type="http://schemas.openxmlformats.org/officeDocument/2006/relationships/notesSlide" Target="/ppt/notesSlides/notesSlide12.xml" Id="R9fc8f1b411c644c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2ca931c1f4884" /><Relationship Type="http://schemas.openxmlformats.org/officeDocument/2006/relationships/image" Target="/ppt/media/image5.png" Id="Rdf12c79228d14ad8" /><Relationship Type="http://schemas.openxmlformats.org/officeDocument/2006/relationships/notesSlide" Target="/ppt/notesSlides/notesSlide13.xml" Id="R7136d19f259042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ac23de26441d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65B70-DD9B-4795-8689-BB6CA59F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BD9E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BD9E2"/>
                </a:solidFill>
                <a:latin typeface="Aptos"/>
                <a:ea typeface="Aptos"/>
                <a:cs typeface="Aptos"/>
              </a:rPr>
              <a:t>BOUNDLESS AGENTS · AI + EDUCATION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72184-1925-4E15-AF00-5048CD8B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571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2689F-C5C6-46B8-8734-7D4DD35C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Village of</a:t>
            </a:r>
          </a:p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Shadows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79000-5F55-4B02-8153-74E7238E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447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8E1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8E1E6"/>
                </a:solidFill>
                <a:latin typeface="Helvetica Neue"/>
                <a:ea typeface="Helvetica Neue"/>
                <a:cs typeface="Helvetica Neue"/>
              </a:rPr>
              <a:t>Learning agentic AI from inside</a:t>
            </a:r>
          </a:p>
          <a:p xmlns:a="http://schemas.openxmlformats.org/drawingml/2006/main">
            <a:pPr algn="l">
              <a:defRPr sz="2025" b="0">
                <a:solidFill>
                  <a:srgbClr val="D8E1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8E1E6"/>
                </a:solidFill>
                <a:latin typeface="Helvetica Neue"/>
                <a:ea typeface="Helvetica Neue"/>
                <a:cs typeface="Helvetica Neue"/>
              </a:rPr>
              <a:t>a multi-agent world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ACE5B-8DD1-4ECC-BB3C-39FECA2F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BC7C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BC7CE"/>
                </a:solidFill>
                <a:latin typeface="Aptos"/>
                <a:ea typeface="Aptos"/>
                <a:cs typeface="Aptos"/>
              </a:rPr>
              <a:t>Six AI agents · One human · One unscripted world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DC24F-0130-4F76-921A-750A79E7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2A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2AD"/>
                </a:solidFill>
                <a:latin typeface="Aptos"/>
                <a:ea typeface="Aptos"/>
                <a:cs typeface="Aptos"/>
              </a:rPr>
              <a:t>GOAI 2026 · Proposal Deck</a:t>
            </a:r>
          </a:p>
        </p:txBody>
      </p:sp>
    </p:spTree>
    <p:extLst>
      <p:ext uri="{BB962C8B-B14F-4D97-AF65-F5344CB8AC3E}">
        <p14:creationId xmlns:p14="http://schemas.microsoft.com/office/powerpoint/2010/main" val="12523683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BEC3C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e9f59196645a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5B129-25D0-4EF0-9F48-51235FF7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D20D6-FB01-429D-B9A5-2F67D82B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081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08132"/>
                </a:solidFill>
                <a:latin typeface="Aptos"/>
                <a:ea typeface="Aptos"/>
                <a:cs typeface="Aptos"/>
              </a:rPr>
              <a:t>THE LEARNING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46506-AAAF-40F4-8676-6F948747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2000"/>
            <a:ext cx="4095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829"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Most agentic AI lessons</a:t>
            </a:r>
          </a:p>
          <a:p xmlns:a="http://schemas.openxmlformats.org/drawingml/2006/main">
            <a:pPr algn="l">
              <a:defRPr sz="3525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stop at the box.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A7245-CA16-4A43-A9B0-BFC4C0EA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336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Prompt → tool →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98D90-B7C1-40F0-A5B5-A6D64DDB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09875"/>
            <a:ext cx="4000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D0C2"/>
                </a:solidFill>
                <a:latin typeface="Aptos"/>
                <a:ea typeface="Aptos"/>
                <a:cs typeface="Aptos"/>
              </a:rPr>
              <a:t>Useful, but it hides the hardest parts: private context, competing goals, memory, identity, human interrupts and consequences.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933450" y="48577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44652"/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>
            <a:off x="2171700" y="48577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44652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05C87-668F-4CA5-A635-77BBA705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B35"/>
          </a:solidFill>
          <a:ln xmlns:a="http://schemas.openxmlformats.org/drawingml/2006/main" w="19050">
            <a:solidFill>
              <a:srgbClr val="6F9B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6D790-8B59-424D-8556-202473F8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EBD8B-FF7E-451A-AFCD-B0EE06D8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572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B35"/>
          </a:solidFill>
          <a:ln xmlns:a="http://schemas.openxmlformats.org/drawingml/2006/main" w="19050">
            <a:solidFill>
              <a:srgbClr val="6F9B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81CC7-C5A3-4D22-9D3E-CA78FE05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5720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A5763-17F8-4C32-B4C0-F9C2A1AF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72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B35"/>
          </a:solidFill>
          <a:ln xmlns:a="http://schemas.openxmlformats.org/drawingml/2006/main" w="19050">
            <a:solidFill>
              <a:srgbClr val="6F9B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320BB-BD94-4BFD-90A6-A7AAAE70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720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B1BDA-3E71-42C0-A662-53868A41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530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BA9B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BA9B4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7A676C-B52C-436F-BB87-38CA158C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BA9B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BA9B4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A52F21-DE90-435A-A4F3-8570194F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530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BA9B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BA9B4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43B87-1639-44CC-87D1-728DDE64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BA9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BA9B4"/>
                </a:solidFill>
                <a:latin typeface="Aptos"/>
                <a:ea typeface="Aptos"/>
                <a:cs typeface="Aptos"/>
              </a:rPr>
              <a:t>FIXED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A0EA7F-0EC6-46BA-B37C-35406684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578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LIVING SYSTEM</a:t>
            </a:r>
          </a:p>
        </p:txBody>
      </p:sp>
    </p:spTree>
    <p:extLst>
      <p:ext uri="{BB962C8B-B14F-4D97-AF65-F5344CB8AC3E}">
        <p14:creationId xmlns:p14="http://schemas.microsoft.com/office/powerpoint/2010/main" val="442448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7716F2-6F4D-492D-92C1-7CAEE789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D48E2-6D2E-4C2D-88D7-EC215684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2381250" cy="676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2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61912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4465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C2F0B-A958-4F66-BBDB-001C12F5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081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08132"/>
                </a:solidFill>
                <a:latin typeface="Aptos"/>
                <a:ea typeface="Aptos"/>
                <a:cs typeface="Aptos"/>
              </a:rPr>
              <a:t>THE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B7F37-33EF-4523-8BE0-7CB7AE1B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A9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BA9B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CF3AA-C2F3-4D90-B495-C38EDAAA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A9B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A9B4"/>
                </a:solidFill>
                <a:latin typeface="Aptos"/>
                <a:ea typeface="Aptos"/>
                <a:cs typeface="Aptos"/>
              </a:rPr>
              <a:t>BOUNDLESS AGENTS · AI + EDUCATION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15915-AFA0-440B-9A91-8FCBD037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542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666"/>
          </a:bodyPr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Architecture becomes something</a:t>
            </a:r>
          </a:p>
          <a:p xmlns:a="http://schemas.openxmlformats.org/drawingml/2006/main">
            <a:pPr algn="l">
              <a:defRPr sz="3450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you can sit inside.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B5096-F734-4D9A-A0BF-AB7B6A35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D0C2"/>
                </a:solidFill>
                <a:latin typeface="Aptos"/>
                <a:ea typeface="Aptos"/>
                <a:cs typeface="Aptos"/>
              </a:rPr>
              <a:t>Six independent AI agents and one human share the same world—but never the same information.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24C35-F97A-4491-A29C-36C3582C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081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08132"/>
                </a:solidFill>
                <a:latin typeface="Aptos"/>
                <a:ea typeface="Aptos"/>
                <a:cs typeface="Aptos"/>
              </a:rPr>
              <a:t>Each AI seat owns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8378E-8E25-4D47-962D-DCB208FD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90950"/>
            <a:ext cx="2857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algn="l">
              <a:defRPr sz="18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PERSONALITY</a:t>
            </a:r>
          </a:p>
          <a:p xmlns:a="http://schemas.openxmlformats.org/drawingml/2006/main">
            <a:pPr algn="l">
              <a:defRPr sz="18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SECRET ROLE</a:t>
            </a:r>
          </a:p>
          <a:p xmlns:a="http://schemas.openxmlformats.org/drawingml/2006/main">
            <a:pPr algn="l">
              <a:defRPr sz="18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PRIVATE MEMORY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334F3-AA31-407A-9E6F-53E8A77D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857250"/>
            <a:ext cx="4762500" cy="476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46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D73CE9-6A24-4AD9-A412-5ED45B2F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24000"/>
            <a:ext cx="342900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6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8CE88B-98D1-474F-BC2C-FEC6AC55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28875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B35"/>
          </a:solidFill>
          <a:ln xmlns:a="http://schemas.openxmlformats.org/drawingml/2006/main" w="28575">
            <a:solidFill>
              <a:srgbClr val="6F9B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A99EC-60C9-4704-8416-6381A915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28875"/>
            <a:ext cx="161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SHARED</a:t>
            </a:r>
          </a:p>
          <a:p xmlns:a="http://schemas.openxmlformats.org/drawingml/2006/main">
            <a:pPr algn="ctr">
              <a:defRPr sz="187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WORLD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AD379-0D47-43FB-B560-DC469A75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04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B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8FC7F3-1C66-46F3-BB48-842EE4BE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048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101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A1015"/>
                </a:solidFill>
                <a:latin typeface="Aptos"/>
                <a:ea typeface="Aptos"/>
                <a:cs typeface="Aptos"/>
              </a:rPr>
              <a:t>AI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05BBDF-BD64-4167-A708-28F4A959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428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B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F6094E-07CD-4DED-BA87-8B9CD6CC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4287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101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A1015"/>
                </a:solidFill>
                <a:latin typeface="Aptos"/>
                <a:ea typeface="Aptos"/>
                <a:cs typeface="Aptos"/>
              </a:rPr>
              <a:t>AI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489F84-A777-4230-94BB-404B45FE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143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B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6B70D6-AA4E-4D0F-96EC-431F8B19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1432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101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A1015"/>
                </a:solidFill>
                <a:latin typeface="Aptos"/>
                <a:ea typeface="Aptos"/>
                <a:cs typeface="Aptos"/>
              </a:rPr>
              <a:t>AI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45CF7E-25EF-4388-9CCC-157BFF9A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62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B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B15384-BF8F-4899-84B9-66017AA4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62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101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A1015"/>
                </a:solidFill>
                <a:latin typeface="Aptos"/>
                <a:ea typeface="Aptos"/>
                <a:cs typeface="Aptos"/>
              </a:rPr>
              <a:t>AI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B8028D-1A87-407D-82BB-CFC224A9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8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7B0BE2-7C8A-49DA-A9B2-44B940E4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101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A1015"/>
                </a:solidFill>
                <a:latin typeface="Aptos"/>
                <a:ea typeface="Aptos"/>
                <a:cs typeface="Aptos"/>
              </a:rPr>
              <a:t>YOU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C2017F-EC30-420B-B37B-6983BE93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B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BFF66F-0915-4275-BE53-5B3D640F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101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A1015"/>
                </a:solidFill>
                <a:latin typeface="Aptos"/>
                <a:ea typeface="Aptos"/>
                <a:cs typeface="Aptos"/>
              </a:rPr>
              <a:t>AI 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C3D0E0-7532-45AE-A6CF-D4510D03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B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7331FD-C03D-47F4-BF0F-5AC05C9E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101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A1015"/>
                </a:solidFill>
                <a:latin typeface="Aptos"/>
                <a:ea typeface="Aptos"/>
                <a:cs typeface="Aptos"/>
              </a:rPr>
              <a:t>AI 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7970B2-639D-4CFB-946C-D7AC00AE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5816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BA9B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9BA9B4"/>
                </a:solidFill>
                <a:latin typeface="Aptos"/>
                <a:ea typeface="Aptos"/>
                <a:cs typeface="Aptos"/>
              </a:rPr>
              <a:t>The graph owns the world.</a:t>
            </a:r>
          </a:p>
          <a:p xmlns:a="http://schemas.openxmlformats.org/drawingml/2006/main">
            <a:pPr algn="ctr">
              <a:defRPr sz="1425" b="1">
                <a:solidFill>
                  <a:srgbClr val="9BA9B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9BA9B4"/>
                </a:solidFill>
                <a:latin typeface="Aptos"/>
                <a:ea typeface="Aptos"/>
                <a:cs typeface="Aptos"/>
              </a:rPr>
              <a:t>The agents own their choices.</a:t>
            </a:r>
          </a:p>
        </p:txBody>
      </p:sp>
    </p:spTree>
    <p:extLst>
      <p:ext uri="{BB962C8B-B14F-4D97-AF65-F5344CB8AC3E}">
        <p14:creationId xmlns:p14="http://schemas.microsoft.com/office/powerpoint/2010/main" val="14149212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93E7B6-A29F-4341-9C6F-8F90BEB5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3E3D9-0D3E-4455-B864-31F5230A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2381250" cy="676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2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95300" y="61912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4465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488C5-A7E8-4E59-B61C-CED8AB6E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081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08132"/>
                </a:solidFill>
                <a:latin typeface="Aptos"/>
                <a:ea typeface="Aptos"/>
                <a:cs typeface="Aptos"/>
              </a:rPr>
              <a:t>HUMAN IN THE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5A195-B96E-4E11-9324-01AF2404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A9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BA9B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E9C42-6B64-482E-91B3-0B7F57C7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A9B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A9B4"/>
                </a:solidFill>
                <a:latin typeface="Aptos"/>
                <a:ea typeface="Aptos"/>
                <a:cs typeface="Aptos"/>
              </a:rPr>
              <a:t>BOUNDLESS AGENTS · AI + EDUCATION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83C28-8C3C-49D5-9927-C76DE7A9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590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The human is not supervising.</a:t>
            </a:r>
          </a:p>
          <a:p xmlns:a="http://schemas.openxmlformats.org/drawingml/2006/main">
            <a:pPr algn="l">
              <a:defRPr sz="3450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The human is playing.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E5605-2389-4046-8E84-E335DD6E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D0C2"/>
                </a:solidFill>
                <a:latin typeface="Aptos"/>
                <a:ea typeface="Aptos"/>
                <a:cs typeface="Aptos"/>
              </a:rPr>
              <a:t>When the human must speak, vote or act, execution genuinely suspends.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857250" y="4191000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44652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A5C94-293B-48D6-BF44-58EE2D1E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957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B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9426C-FD32-4B69-9206-23312064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9572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A10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15"/>
                </a:solidFill>
                <a:latin typeface="Aptos"/>
                <a:ea typeface="Aptos"/>
                <a:cs typeface="Aptos"/>
              </a:rPr>
              <a:t>NIGHT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8BEC0-5CAC-4F50-ABF0-A7C0D18F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863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9BB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9BB2"/>
                </a:solidFill>
                <a:latin typeface="Aptos"/>
                <a:ea typeface="Aptos"/>
                <a:cs typeface="Aptos"/>
              </a:rPr>
              <a:t>NIGHT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236DC-C5D3-4576-BBDB-F026987A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957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B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BA292A-4EB6-4C6C-B8B7-D40AD245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9572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A10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15"/>
                </a:solidFill>
                <a:latin typeface="Aptos"/>
                <a:ea typeface="Aptos"/>
                <a:cs typeface="Aptos"/>
              </a:rPr>
              <a:t>DISCUSS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E8A92-215E-4D28-9E40-2A43B5B4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863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9BB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9BB2"/>
                </a:solidFill>
                <a:latin typeface="Aptos"/>
                <a:ea typeface="Aptos"/>
                <a:cs typeface="Aptos"/>
              </a:rPr>
              <a:t>DISCUSS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ED38FE-2C6C-483C-A5F6-7D03822A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957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8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E9A2A-C213-4D9F-9098-27DFC344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9572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A10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15"/>
                </a:solidFill>
                <a:latin typeface="Aptos"/>
                <a:ea typeface="Aptos"/>
                <a:cs typeface="Aptos"/>
              </a:rPr>
              <a:t>VOTE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3DA5D9-6C57-44C8-A946-CBDB8B67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863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081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08132"/>
                </a:solidFill>
                <a:latin typeface="Aptos"/>
                <a:ea typeface="Aptos"/>
                <a:cs typeface="Aptos"/>
              </a:rPr>
              <a:t>VOTE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49BBF8-839C-429D-9A17-D408068A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957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B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90DA9A-3C37-4027-8B3C-1306E68C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9572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A10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15"/>
                </a:solidFill>
                <a:latin typeface="Aptos"/>
                <a:ea typeface="Aptos"/>
                <a:cs typeface="Aptos"/>
              </a:rPr>
              <a:t>RESOLVE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3FC69-3057-4D45-AD64-C7C78B33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863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9BB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9BB2"/>
                </a:solidFill>
                <a:latin typeface="Aptos"/>
                <a:ea typeface="Aptos"/>
                <a:cs typeface="Aptos"/>
              </a:rPr>
              <a:t>RESOLVE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42BDDD-D5B9-47D8-B79E-0FD44BAA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957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B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BEDB5C-BA14-4EDB-B652-CD5A1C59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9572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A10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15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155D7F-BCA9-4254-93DA-A168C02B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863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9BB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9BB2"/>
                </a:solidFill>
                <a:latin typeface="Aptos"/>
                <a:ea typeface="Aptos"/>
                <a:cs typeface="Aptos"/>
              </a:rPr>
              <a:t>NEXT ROUND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29DB12-9CA3-4D93-9814-3C8C3AF3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62300"/>
            <a:ext cx="2381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08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7C6400-3016-4DFA-9F9B-65F15E13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242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101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A1015"/>
                </a:solidFill>
                <a:latin typeface="Aptos"/>
                <a:ea typeface="Aptos"/>
                <a:cs typeface="Aptos"/>
              </a:rPr>
              <a:t>LANGGRAPH INTERRUPT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6000750" y="369570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08132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7B7371-0F29-4A26-8629-374BC3DC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AI and human actions then pass through the same identity and rule validation layer.</a:t>
            </a:r>
          </a:p>
        </p:txBody>
      </p:sp>
    </p:spTree>
    <p:extLst>
      <p:ext uri="{BB962C8B-B14F-4D97-AF65-F5344CB8AC3E}">
        <p14:creationId xmlns:p14="http://schemas.microsoft.com/office/powerpoint/2010/main" val="13580897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270423-A5F0-4CC3-A806-43D4F942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768EE-19D4-4D52-8CDC-8C76E858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2381250" cy="676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2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95300" y="61912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4465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4DE2E-902C-4F1D-B68E-F507D6F4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081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08132"/>
                </a:solidFill>
                <a:latin typeface="Aptos"/>
                <a:ea typeface="Aptos"/>
                <a:cs typeface="Aptos"/>
              </a:rPr>
              <a:t>PRIVATE PERSPECTIVES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FCD6D-1BE0-4CBD-8F9E-6501241A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A9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BA9B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8364D-44F5-4251-B2C0-1ED07EC2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A9B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A9B4"/>
                </a:solidFill>
                <a:latin typeface="Aptos"/>
                <a:ea typeface="Aptos"/>
                <a:cs typeface="Aptos"/>
              </a:rPr>
              <a:t>BOUNDLESS AGENTS · AI + EDUCATION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D1BBD-FC6F-4FF0-BCC9-830086B0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685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Every seat inhabits a different</a:t>
            </a:r>
          </a:p>
          <a:p xmlns:a="http://schemas.openxmlformats.org/drawingml/2006/main">
            <a:pPr algn="l">
              <a:defRPr sz="3300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version of the same conversation.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E89B0-09E4-45A7-9F6F-CA0DA3B0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D0C2"/>
                </a:solidFill>
                <a:latin typeface="Aptos"/>
                <a:ea typeface="Aptos"/>
                <a:cs typeface="Aptos"/>
              </a:rPr>
              <a:t>Partial observability is not explained in a diagram—it changes what each agent believes and does.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46141-DF3C-4F19-8BD8-74CD3168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051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657"/>
          </a:solidFill>
          <a:ln xmlns:a="http://schemas.openxmlformats.org/drawingml/2006/main" w="28575">
            <a:solidFill>
              <a:srgbClr val="6F9B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C6BF7-2498-406B-AD1A-1AD1F908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9BB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9BB2"/>
                </a:solidFill>
                <a:latin typeface="Aptos"/>
                <a:ea typeface="Aptos"/>
                <a:cs typeface="Aptos"/>
              </a:rPr>
              <a:t>VILLAGER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2B302-3445-4D80-BE04-CDA401E4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276725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Public claims</a:t>
            </a:r>
          </a:p>
          <a:p xmlns:a="http://schemas.openxmlformats.org/drawingml/2006/main">
            <a:pPr algn="ctr">
              <a:defRPr sz="157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Votes</a:t>
            </a:r>
          </a:p>
          <a:p xmlns:a="http://schemas.openxmlformats.org/drawingml/2006/main">
            <a:pPr algn="ctr">
              <a:defRPr sz="157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7FF50-F104-4908-9F9D-17872C55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3E1C"/>
          </a:solidFill>
          <a:ln xmlns:a="http://schemas.openxmlformats.org/drawingml/2006/main" w="28575">
            <a:solidFill>
              <a:srgbClr val="D081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1252D2-1463-47F9-B162-5B8E7D74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43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081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08132"/>
                </a:solidFill>
                <a:latin typeface="Aptos"/>
                <a:ea typeface="Aptos"/>
                <a:cs typeface="Aptos"/>
              </a:rPr>
              <a:t>SEER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FD59F-63AB-4CD1-AD12-CAFFF71C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29075"/>
            <a:ext cx="2343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Public claims</a:t>
            </a:r>
          </a:p>
          <a:p xmlns:a="http://schemas.openxmlformats.org/drawingml/2006/main">
            <a:pPr algn="ctr">
              <a:defRPr sz="157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Private identity result</a:t>
            </a:r>
          </a:p>
          <a:p xmlns:a="http://schemas.openxmlformats.org/drawingml/2006/main">
            <a:pPr algn="ctr">
              <a:defRPr sz="157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F2CC51-8A0A-482B-B99D-D3287835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2528"/>
          </a:solidFill>
          <a:ln xmlns:a="http://schemas.openxmlformats.org/drawingml/2006/main" w="28575">
            <a:solidFill>
              <a:srgbClr val="A958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EA79E-895F-4994-9C4F-D79CB425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90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585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95850"/>
                </a:solidFill>
                <a:latin typeface="Aptos"/>
                <a:ea typeface="Aptos"/>
                <a:cs typeface="Aptos"/>
              </a:rPr>
              <a:t>WEREWOLF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A8B83-F1F8-4E7D-8867-DA4EBF73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76725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Public claims</a:t>
            </a:r>
          </a:p>
          <a:p xmlns:a="http://schemas.openxmlformats.org/drawingml/2006/main">
            <a:pPr algn="ctr">
              <a:defRPr sz="157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Teammate identity</a:t>
            </a:r>
          </a:p>
          <a:p xmlns:a="http://schemas.openxmlformats.org/drawingml/2006/main">
            <a:pPr algn="ctr">
              <a:defRPr sz="157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Private strategy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047CBA-DF46-45C5-892C-DCACF161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6098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Same round. Different evidence. Different truth.</a:t>
            </a:r>
          </a:p>
        </p:txBody>
      </p:sp>
    </p:spTree>
    <p:extLst>
      <p:ext uri="{BB962C8B-B14F-4D97-AF65-F5344CB8AC3E}">
        <p14:creationId xmlns:p14="http://schemas.microsoft.com/office/powerpoint/2010/main" val="19928053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70D040-B433-4CA0-9042-C653923F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E58FE-6E83-4963-91E7-8F4AFFBD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2381250" cy="676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2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95300" y="61912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4465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8A86A-C8C3-495A-ACE9-0061964A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081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08132"/>
                </a:solidFill>
                <a:latin typeface="Aptos"/>
                <a:ea typeface="Aptos"/>
                <a:cs typeface="Aptos"/>
              </a:rPr>
              <a:t>TECHNICAL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7A349-C99A-4A9F-A610-A14B8A72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A9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BA9B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3256A-95BB-4F74-9B14-BEEB88DA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A9B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A9B4"/>
                </a:solidFill>
                <a:latin typeface="Aptos"/>
                <a:ea typeface="Aptos"/>
                <a:cs typeface="Aptos"/>
              </a:rPr>
              <a:t>BOUNDLESS AGENTS · AI + EDUCATION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A6DF2-B444-43AC-BF6E-435EA914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Structure makes autonomous behavior</a:t>
            </a:r>
          </a:p>
          <a:p xmlns:a="http://schemas.openxmlformats.org/drawingml/2006/main">
            <a:pPr algn="l">
              <a:defRPr sz="3225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safe, stateful and inspectable.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2476500" y="32575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08132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4857750" y="32575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9BB2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7239000" y="32575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6A18B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9620250" y="32575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5850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C3B9F-6018-4876-925C-AF3EA2A0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19812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6A3E1C"/>
          </a:solidFill>
          <a:ln xmlns:a="http://schemas.openxmlformats.org/drawingml/2006/main" w="19050">
            <a:solidFill>
              <a:srgbClr val="D081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84187-BEFC-41F7-815D-3953326E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638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081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08132"/>
                </a:solidFill>
                <a:latin typeface="Aptos"/>
                <a:ea typeface="Aptos"/>
                <a:cs typeface="Aptos"/>
              </a:rPr>
              <a:t>HUMAN + 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7DF859-11E1-4936-A037-A3F6677A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1638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Next.js · 3D chamber</a:t>
            </a:r>
          </a:p>
          <a:p xmlns:a="http://schemas.openxmlformats.org/drawingml/2006/main">
            <a:pPr algn="l">
              <a:defRPr sz="15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SSE activity stream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3547A-AE2C-4084-8138-2E9572D3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1428750" cy="1809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94657"/>
          </a:solidFill>
          <a:ln xmlns:a="http://schemas.openxmlformats.org/drawingml/2006/main" w="19050">
            <a:solidFill>
              <a:srgbClr val="6F9B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601967-0309-42C9-9F02-18749E86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9080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9BB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9BB2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5AA5D6-49FB-43F8-91D8-CEB2E98B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67050"/>
            <a:ext cx="1085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FastAPI</a:t>
            </a:r>
          </a:p>
          <a:p xmlns:a="http://schemas.openxmlformats.org/drawingml/2006/main">
            <a:pPr algn="l">
              <a:defRPr sz="15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model preflight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690192-BF9F-4F1E-A0A6-9BCD05CB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71700"/>
            <a:ext cx="1428750" cy="1809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2B35"/>
          </a:solidFill>
          <a:ln xmlns:a="http://schemas.openxmlformats.org/drawingml/2006/main" w="19050">
            <a:solidFill>
              <a:srgbClr val="F2E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D6A27B-0897-4346-A4BC-7C6847CD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812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WORLD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032E7-B70C-4D0F-974C-C9C104B4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57500"/>
            <a:ext cx="1085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LangGraph</a:t>
            </a:r>
          </a:p>
          <a:p xmlns:a="http://schemas.openxmlformats.org/drawingml/2006/main">
            <a:pPr algn="l">
              <a:defRPr sz="15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turns · phases</a:t>
            </a:r>
          </a:p>
          <a:p xmlns:a="http://schemas.openxmlformats.org/drawingml/2006/main">
            <a:pPr algn="l">
              <a:defRPr sz="15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interrupts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EACF63-180D-4759-93A0-7FD2CB9E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1428750" cy="1809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44035"/>
          </a:solidFill>
          <a:ln xmlns:a="http://schemas.openxmlformats.org/drawingml/2006/main" w="19050">
            <a:solidFill>
              <a:srgbClr val="76A18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B13920-9295-44D4-9BC5-22D93F21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9080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A1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6A18B"/>
                </a:solidFill>
                <a:latin typeface="Aptos"/>
                <a:ea typeface="Aptos"/>
                <a:cs typeface="Aptos"/>
              </a:rPr>
              <a:t>MINDS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8F7CBD-6B9B-4D3C-A852-3230B34F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67050"/>
            <a:ext cx="1085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6 private histories</a:t>
            </a:r>
          </a:p>
          <a:p xmlns:a="http://schemas.openxmlformats.org/drawingml/2006/main">
            <a:pPr algn="l">
              <a:defRPr sz="15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and memories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0744DC-22ED-4387-8C8B-0150E9B5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1409700" cy="18097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4C2528"/>
          </a:solidFill>
          <a:ln xmlns:a="http://schemas.openxmlformats.org/drawingml/2006/main" w="19050">
            <a:solidFill>
              <a:srgbClr val="A958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838045-89FA-432B-B57A-822EFF1A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5908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585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95850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E987AF-4B24-4863-AB3C-61780E6C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67050"/>
            <a:ext cx="106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MCP</a:t>
            </a:r>
          </a:p>
          <a:p xmlns:a="http://schemas.openxmlformats.org/drawingml/2006/main">
            <a:pPr algn="l">
              <a:defRPr sz="15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actions</a:t>
            </a:r>
          </a:p>
          <a:p xmlns:a="http://schemas.openxmlformats.org/drawingml/2006/main">
            <a:pPr algn="l">
              <a:defRPr sz="15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3E10D8-1F6B-4B82-8754-51E4BA72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62500"/>
            <a:ext cx="82677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056A24-4DA0-4F00-865A-0147E2D4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48250"/>
            <a:ext cx="7658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SQLite checkpoints  ·  per-seat memory  ·  replay-safe state  ·  model-neutral adapters</a:t>
            </a:r>
          </a:p>
        </p:txBody>
      </p:sp>
    </p:spTree>
    <p:extLst>
      <p:ext uri="{BB962C8B-B14F-4D97-AF65-F5344CB8AC3E}">
        <p14:creationId xmlns:p14="http://schemas.microsoft.com/office/powerpoint/2010/main" val="20150639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7F3C48-224B-47C4-91DE-1FA38F2E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BAA00-A2D3-4835-A5FA-0659A5F1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2381250" cy="676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2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95300" y="61912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4465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7BAC6-E5EB-4212-9273-5A4A0B0B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081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08132"/>
                </a:solidFill>
                <a:latin typeface="Aptos"/>
                <a:ea typeface="Aptos"/>
                <a:cs typeface="Aptos"/>
              </a:rPr>
              <a:t>CLOSED-LOOP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39CBE-5024-48E4-A5A1-F065371C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A9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BA9B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29C6E-FE17-4420-9774-72E02437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A9B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A9B4"/>
                </a:solidFill>
                <a:latin typeface="Aptos"/>
                <a:ea typeface="Aptos"/>
                <a:cs typeface="Aptos"/>
              </a:rPr>
              <a:t>BOUNDLESS AGENTS · AI + EDUCATION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2D372-4AE8-45F0-A74D-1181FBEE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7334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A complete game becomes a repeatable</a:t>
            </a:r>
          </a:p>
          <a:p xmlns:a="http://schemas.openxmlformats.org/drawingml/2006/main">
            <a:pPr algn="l">
              <a:defRPr sz="3300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learning experiment.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E2386-EAD0-4A79-BD65-214D1A24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D0C2"/>
                </a:solidFill>
                <a:latin typeface="Aptos"/>
                <a:ea typeface="Aptos"/>
                <a:cs typeface="Aptos"/>
              </a:rPr>
              <a:t>The session begins with a hypothesis and ends with evidence the learner can inspect, explain and compare.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904875" y="4095750"/>
            <a:ext cx="10096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44652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EF141-CF43-4619-A5AE-51233690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B35"/>
          </a:solidFill>
          <a:ln xmlns:a="http://schemas.openxmlformats.org/drawingml/2006/main" w="28575">
            <a:solidFill>
              <a:srgbClr val="6F9B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91041-C918-4490-9098-D95FB533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9BB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9BB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C2A5B-7C15-46BD-B34F-275CCCAD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05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9BB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9BB2"/>
                </a:solidFill>
                <a:latin typeface="Aptos"/>
                <a:ea typeface="Aptos"/>
                <a:cs typeface="Aptos"/>
              </a:rPr>
              <a:t>CONFIGURE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37C36-7535-49A9-B956-F2DD119F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067300"/>
            <a:ext cx="156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2EEE5"/>
                </a:solidFill>
                <a:latin typeface="Aptos"/>
                <a:ea typeface="Aptos"/>
                <a:cs typeface="Aptos"/>
              </a:rPr>
              <a:t>Models, roles,</a:t>
            </a:r>
          </a:p>
          <a:p xmlns:a="http://schemas.openxmlformats.org/drawingml/2006/main">
            <a:pPr algn="ctr">
              <a:defRPr sz="1275" b="0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2EEE5"/>
                </a:solidFill>
                <a:latin typeface="Aptos"/>
                <a:ea typeface="Aptos"/>
                <a:cs typeface="Aptos"/>
              </a:rPr>
              <a:t>personalities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3D391-9498-49FD-9D11-F626FC66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7338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B35"/>
          </a:solidFill>
          <a:ln xmlns:a="http://schemas.openxmlformats.org/drawingml/2006/main" w="28575">
            <a:solidFill>
              <a:srgbClr val="6F9B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911F63-7F02-4FEF-9B4B-275BBDED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7338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9BB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9BB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6F3DE-D21E-4479-B613-37474E92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705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9BB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9BB2"/>
                </a:solidFill>
                <a:latin typeface="Aptos"/>
                <a:ea typeface="Aptos"/>
                <a:cs typeface="Aptos"/>
              </a:rPr>
              <a:t>PREDICT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53718-8954-4B88-837C-EE71C904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5067300"/>
            <a:ext cx="156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2EEE5"/>
                </a:solidFill>
                <a:latin typeface="Aptos"/>
                <a:ea typeface="Aptos"/>
                <a:cs typeface="Aptos"/>
              </a:rPr>
              <a:t>Expected</a:t>
            </a:r>
          </a:p>
          <a:p xmlns:a="http://schemas.openxmlformats.org/drawingml/2006/main">
            <a:pPr algn="ctr">
              <a:defRPr sz="1275" b="0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2EEE5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695956-8DBC-4F58-B3A5-8287F64C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338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B35"/>
          </a:solidFill>
          <a:ln xmlns:a="http://schemas.openxmlformats.org/drawingml/2006/main" w="28575">
            <a:solidFill>
              <a:srgbClr val="6F9B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242A03-512C-4ABD-91CE-16CF6DF8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338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9BB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9BB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9A42C0-373E-4ADB-8415-81470C68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05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9BB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9BB2"/>
                </a:solidFill>
                <a:latin typeface="Aptos"/>
                <a:ea typeface="Aptos"/>
                <a:cs typeface="Aptos"/>
              </a:rPr>
              <a:t>PLAY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521F4A-3322-4582-896C-CDFCDE30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067300"/>
            <a:ext cx="156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2EEE5"/>
                </a:solidFill>
                <a:latin typeface="Aptos"/>
                <a:ea typeface="Aptos"/>
                <a:cs typeface="Aptos"/>
              </a:rPr>
              <a:t>Speak, vote,</a:t>
            </a:r>
          </a:p>
          <a:p xmlns:a="http://schemas.openxmlformats.org/drawingml/2006/main">
            <a:pPr algn="ctr">
              <a:defRPr sz="1275" b="0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2EEE5"/>
                </a:solidFill>
                <a:latin typeface="Aptos"/>
                <a:ea typeface="Aptos"/>
                <a:cs typeface="Aptos"/>
              </a:rPr>
              <a:t>night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99ACF1-D026-4B36-8062-051E0DC0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7338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B35"/>
          </a:solidFill>
          <a:ln xmlns:a="http://schemas.openxmlformats.org/drawingml/2006/main" w="28575">
            <a:solidFill>
              <a:srgbClr val="6F9BB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A12F81-3B73-4CB2-B546-C5C94DE1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7338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9BB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9BB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77A249-0C15-4348-B337-A5BB9390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9BB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9BB2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647412-B070-41BE-BAE6-EBDB7E8C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5067300"/>
            <a:ext cx="156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2EEE5"/>
                </a:solidFill>
                <a:latin typeface="Aptos"/>
                <a:ea typeface="Aptos"/>
                <a:cs typeface="Aptos"/>
              </a:rPr>
              <a:t>State, memory,</a:t>
            </a:r>
          </a:p>
          <a:p xmlns:a="http://schemas.openxmlformats.org/drawingml/2006/main">
            <a:pPr algn="ctr">
              <a:defRPr sz="1275" b="0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2EEE5"/>
                </a:solidFill>
                <a:latin typeface="Aptos"/>
                <a:ea typeface="Aptos"/>
                <a:cs typeface="Aptos"/>
              </a:rPr>
              <a:t>tool calls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F1911E-3311-49F1-A369-04F812AF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338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B35"/>
          </a:solidFill>
          <a:ln xmlns:a="http://schemas.openxmlformats.org/drawingml/2006/main" w="28575">
            <a:solidFill>
              <a:srgbClr val="D0813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414CA2-9928-4741-B4E4-73D5B89B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338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081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0813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A65B0C-4C5E-48D9-A9C7-68A72658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05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081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08132"/>
                </a:solidFill>
                <a:latin typeface="Aptos"/>
                <a:ea typeface="Aptos"/>
                <a:cs typeface="Aptos"/>
              </a:rPr>
              <a:t>DEBRIEF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D1E466-F2EF-46C1-81A7-58F33788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067300"/>
            <a:ext cx="156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2EEE5"/>
                </a:solidFill>
                <a:latin typeface="Aptos"/>
                <a:ea typeface="Aptos"/>
                <a:cs typeface="Aptos"/>
              </a:rPr>
              <a:t>Explain clues,</a:t>
            </a:r>
          </a:p>
          <a:p xmlns:a="http://schemas.openxmlformats.org/drawingml/2006/main">
            <a:pPr algn="ctr">
              <a:defRPr sz="1275" b="0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2EEE5"/>
                </a:solidFill>
                <a:latin typeface="Aptos"/>
                <a:ea typeface="Aptos"/>
                <a:cs typeface="Aptos"/>
              </a:rPr>
              <a:t>failure, surprise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15B860-A595-4083-9874-5913026F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7338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B35"/>
          </a:solidFill>
          <a:ln xmlns:a="http://schemas.openxmlformats.org/drawingml/2006/main" w="28575">
            <a:solidFill>
              <a:srgbClr val="6F9BB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3170F1-21E8-4880-9D8F-D92CE5F3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7338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9BB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9BB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70692F-E798-4FD1-BE48-3DA221FB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705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9BB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9BB2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FF0DF0-9FAB-407A-B8E4-1B8636F3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5067300"/>
            <a:ext cx="156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2EEE5"/>
                </a:solidFill>
                <a:latin typeface="Aptos"/>
                <a:ea typeface="Aptos"/>
                <a:cs typeface="Aptos"/>
              </a:rPr>
              <a:t>Replay with a</a:t>
            </a:r>
          </a:p>
          <a:p xmlns:a="http://schemas.openxmlformats.org/drawingml/2006/main">
            <a:pPr algn="ctr">
              <a:defRPr sz="1275" b="0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2EEE5"/>
                </a:solidFill>
                <a:latin typeface="Aptos"/>
                <a:ea typeface="Aptos"/>
                <a:cs typeface="Aptos"/>
              </a:rPr>
              <a:t>different mind</a:t>
            </a:r>
          </a:p>
        </p:txBody>
      </p:sp>
    </p:spTree>
    <p:extLst>
      <p:ext uri="{BB962C8B-B14F-4D97-AF65-F5344CB8AC3E}">
        <p14:creationId xmlns:p14="http://schemas.microsoft.com/office/powerpoint/2010/main" val="500055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eb4015c0d418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2F0FC-BB39-48B8-9169-96C58578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081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08132"/>
                </a:solidFill>
                <a:latin typeface="Aptos"/>
                <a:ea typeface="Aptos"/>
                <a:cs typeface="Aptos"/>
              </a:rPr>
              <a:t>OBSERVABILITY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0B434-F5E0-4CEE-A00E-7B17BD21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God Mode reveals</a:t>
            </a:r>
          </a:p>
          <a:p xmlns:a="http://schemas.openxmlformats.org/drawingml/2006/main">
            <a:pPr algn="l">
              <a:defRPr sz="3525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what dialogue hides.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71FC3-DA75-490F-97A1-1157A877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D0C2"/>
                </a:solidFill>
                <a:latin typeface="Aptos"/>
                <a:ea typeface="Aptos"/>
                <a:cs typeface="Aptos"/>
              </a:rPr>
              <a:t>Public words are only one layer of an agent’s behavior.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FD8B8-D11A-4B36-8251-6747CD1D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81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0813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933450" y="32480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8132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0E348-93D1-4C47-8B82-975CD5F1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432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ROLE + PRIVATE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74493-62BD-4610-8CCF-E69E3FB2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528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81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0813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933450" y="38576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8132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C9B1E-52E9-43EB-B309-F5231D6A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528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STATED RATIONALE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D087A-79FB-44F0-95E7-BE6BA390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624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81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0813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933450" y="44672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8132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E6B5DE-6859-4407-A9CB-2462319D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MEMORY + TRUST SIGNALS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5FE57-75F4-49DC-83BA-9D306ABC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720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81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0813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933450" y="50768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8132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5A82D-D22B-4E88-A5C4-E7626744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72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TOOL CALL +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57BB8B-7B00-42F0-B0AA-2AC1E891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76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9B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BA9B4"/>
                </a:solidFill>
                <a:latin typeface="Aptos"/>
                <a:ea typeface="Aptos"/>
                <a:cs typeface="Aptos"/>
              </a:rPr>
              <a:t>Debug view—not hidden chain-of-thought</a:t>
            </a:r>
          </a:p>
        </p:txBody>
      </p:sp>
    </p:spTree>
    <p:extLst>
      <p:ext uri="{BB962C8B-B14F-4D97-AF65-F5344CB8AC3E}">
        <p14:creationId xmlns:p14="http://schemas.microsoft.com/office/powerpoint/2010/main" val="12192474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44321c7c044a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B9D6F-2C20-4BB7-B19D-BF66BDAE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081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08132"/>
                </a:solidFill>
                <a:latin typeface="Aptos"/>
                <a:ea typeface="Aptos"/>
                <a:cs typeface="Aptos"/>
              </a:rPr>
              <a:t>MULTI-MODEL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6911F-F001-4F2C-B3C5-0A6DE0C1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Same world.</a:t>
            </a:r>
          </a:p>
          <a:p xmlns:a="http://schemas.openxmlformats.org/drawingml/2006/main">
            <a:pPr algn="l">
              <a:defRPr sz="3675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Different minds.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12692-F660-4B44-8659-CE0C5D60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2407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D0C2"/>
                </a:solidFill>
                <a:latin typeface="Aptos"/>
                <a:ea typeface="Aptos"/>
                <a:cs typeface="Aptos"/>
              </a:rPr>
              <a:t>Every seat can run a different provider, model and personality.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5B21A-9960-4752-93C7-C828407B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B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4CEAA-C9D7-4BC4-BB8B-58694177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9BB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9BB2"/>
                </a:solidFill>
                <a:latin typeface="Aptos"/>
                <a:ea typeface="Aptos"/>
                <a:cs typeface="Aptos"/>
              </a:rPr>
              <a:t>CAUTIOUS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885FF-19E3-41CD-875A-7A5642EC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242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2EEE5"/>
                </a:solidFill>
                <a:latin typeface="Aptos"/>
                <a:ea typeface="Aptos"/>
                <a:cs typeface="Aptos"/>
              </a:rPr>
              <a:t>asks for another round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8B533-2522-4C0A-8063-FFFAE385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8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4A66F-5B59-46AE-8568-2372ABE7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081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08132"/>
                </a:solidFill>
                <a:latin typeface="Aptos"/>
                <a:ea typeface="Aptos"/>
                <a:cs typeface="Aptos"/>
              </a:rPr>
              <a:t>AGGRESSIVE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09576-BF98-41A9-B64B-C12CA856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7147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2EEE5"/>
                </a:solidFill>
                <a:latin typeface="Aptos"/>
                <a:ea typeface="Aptos"/>
                <a:cs typeface="Aptos"/>
              </a:rPr>
              <a:t>forces an early vote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97EB7-8761-4D04-A63D-CEDDBB34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24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5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02733-9FF9-4E6C-BA7D-4FEE89CA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585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95850"/>
                </a:solidFill>
                <a:latin typeface="Aptos"/>
                <a:ea typeface="Aptos"/>
                <a:cs typeface="Aptos"/>
              </a:rPr>
              <a:t>DECEPTIVE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0F71A1-D882-4C93-8354-DA1F2AC4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053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2EEE5"/>
                </a:solidFill>
                <a:latin typeface="Aptos"/>
                <a:ea typeface="Aptos"/>
                <a:cs typeface="Aptos"/>
              </a:rPr>
              <a:t>redirects suspicion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A1B62-5E21-47C2-85E1-B947CEFA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14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A1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1DF84-F498-47E2-ABEB-B7A61A65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958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A1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6A18B"/>
                </a:solidFill>
                <a:latin typeface="Aptos"/>
                <a:ea typeface="Aptos"/>
                <a:cs typeface="Aptos"/>
              </a:rPr>
              <a:t>ANALYTICAL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13C00-7AE5-4B20-BB49-ED9F1AC1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958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2EEE5"/>
                </a:solidFill>
                <a:latin typeface="Aptos"/>
                <a:ea typeface="Aptos"/>
                <a:cs typeface="Aptos"/>
              </a:rPr>
              <a:t>connects prior claims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3F917-2805-44EA-BDEB-CE678E0B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BA9B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BA9B4"/>
                </a:solidFill>
                <a:latin typeface="Aptos"/>
                <a:ea typeface="Aptos"/>
                <a:cs typeface="Aptos"/>
              </a:rPr>
              <a:t>Preflight validation tests every configured model before the game begins.</a:t>
            </a:r>
          </a:p>
        </p:txBody>
      </p:sp>
    </p:spTree>
    <p:extLst>
      <p:ext uri="{BB962C8B-B14F-4D97-AF65-F5344CB8AC3E}">
        <p14:creationId xmlns:p14="http://schemas.microsoft.com/office/powerpoint/2010/main" val="13524429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41D3D0-9360-426C-B501-2CF55D14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480A2-2CF8-4583-ABD0-4C1F752C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2381250" cy="676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2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95300" y="61912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4465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261BB-6E1D-4181-9976-0372C9B7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081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08132"/>
                </a:solidFill>
                <a:latin typeface="Aptos"/>
                <a:ea typeface="Aptos"/>
                <a:cs typeface="Aptos"/>
              </a:rPr>
              <a:t>PRODUCT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85C6D-6317-4DBE-8C27-73536977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A9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BA9B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FE862-333C-431E-A3FA-8E37B6D2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A9B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A9B4"/>
                </a:solidFill>
                <a:latin typeface="Aptos"/>
                <a:ea typeface="Aptos"/>
                <a:cs typeface="Aptos"/>
              </a:rPr>
              <a:t>BOUNDLESS AGENTS · AI + EDUCATION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77A33-8D83-4702-9D3F-CBD39077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590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91"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This is a working learning lab,</a:t>
            </a:r>
          </a:p>
          <a:p xmlns:a="http://schemas.openxmlformats.org/drawingml/2006/main">
            <a:pPr algn="l">
              <a:defRPr sz="3525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not a concept deck.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CC498-B506-4D13-B2BA-BBD41690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7875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D0C2"/>
                </a:solidFill>
                <a:latin typeface="Aptos"/>
                <a:ea typeface="Aptos"/>
                <a:cs typeface="Aptos"/>
              </a:rPr>
              <a:t>A complete game now closes the learning loop: prediction, participation, live observability and an evidence-backed debrief.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50A65-6562-4B8A-AFE9-5247EA9B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0">
                <a:solidFill>
                  <a:srgbClr val="6F9BB2"/>
                </a:solidFill>
                <a:latin typeface="Georgia"/>
                <a:ea typeface="Georgia"/>
                <a:cs typeface="Georgia"/>
              </a:defRPr>
            </a:pPr>
            <a:r>
              <a:rPr sz="5100" b="0">
                <a:solidFill>
                  <a:srgbClr val="6F9BB2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7AB35-2E59-49A3-AB1F-7F9EB22F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005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INDEPENDENT</a:t>
            </a:r>
          </a:p>
          <a:p xmlns:a="http://schemas.openxmlformats.org/drawingml/2006/main">
            <a:pPr algn="l">
              <a:defRPr sz="112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AI SEATS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672B8-D8B1-4BBC-BA5A-056A6715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2900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0">
                <a:solidFill>
                  <a:srgbClr val="D08132"/>
                </a:solidFill>
                <a:latin typeface="Georgia"/>
                <a:ea typeface="Georgia"/>
                <a:cs typeface="Georgia"/>
              </a:defRPr>
            </a:pPr>
            <a:r>
              <a:rPr sz="5100" b="0">
                <a:solidFill>
                  <a:srgbClr val="D08132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F26A2-3A3D-42A8-928E-AA33FAD7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005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HUMAN INSIDE</a:t>
            </a:r>
          </a:p>
          <a:p xmlns:a="http://schemas.openxmlformats.org/drawingml/2006/main">
            <a:pPr algn="l">
              <a:defRPr sz="112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THE 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7EC5F-75E9-439E-A092-6286DA91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2900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0">
                <a:solidFill>
                  <a:srgbClr val="76A18B"/>
                </a:solidFill>
                <a:latin typeface="Georgia"/>
                <a:ea typeface="Georgia"/>
                <a:cs typeface="Georgia"/>
              </a:defRPr>
            </a:pPr>
            <a:r>
              <a:rPr sz="5100" b="0">
                <a:solidFill>
                  <a:srgbClr val="76A18B"/>
                </a:solidFill>
                <a:latin typeface="Georgia"/>
                <a:ea typeface="Georgia"/>
                <a:cs typeface="Georgia"/>
              </a:rPr>
              <a:t>4+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8AAAC-7843-4BED-96EC-5B0ADF84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005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MODEL ROUTES</a:t>
            </a:r>
          </a:p>
          <a:p xmlns:a="http://schemas.openxmlformats.org/drawingml/2006/main">
            <a:pPr algn="l">
              <a:defRPr sz="112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PLUS MOCK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F3397-AA2E-4050-AC99-8BF262AB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00125"/>
            <a:ext cx="4810125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17232C"/>
          </a:solidFill>
          <a:ln xmlns:a="http://schemas.openxmlformats.org/drawingml/2006/main" w="19050">
            <a:solidFill>
              <a:srgbClr val="3446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6C55E-5642-4722-BF1D-EAAF7102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57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9B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9BB2"/>
                </a:solidFill>
                <a:latin typeface="Aptos"/>
                <a:ea typeface="Aptos"/>
                <a:cs typeface="Aptos"/>
              </a:rPr>
              <a:t>LIVE PRODUCT SURFACE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EF111-E317-42D0-A6A1-C03074F5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285750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0A10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0043AD-58A7-45E0-B2B6-4F5A6359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145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B35"/>
          </a:solidFill>
          <a:ln xmlns:a="http://schemas.openxmlformats.org/drawingml/2006/main" w="19050">
            <a:solidFill>
              <a:srgbClr val="6F9B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2E1DF5-8521-4106-92FB-9338C554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14575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3D</a:t>
            </a:r>
          </a:p>
          <a:p xmlns:a="http://schemas.openxmlformats.org/drawingml/2006/main">
            <a:pPr algn="ctr">
              <a:defRPr sz="15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COUNCIL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183384-AC37-432B-9DA1-48DAA6FA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621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B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B2A56F-12E4-4A12-B634-382F4AC5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62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A101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A101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3634A1-C97C-4C08-815A-C7E6776B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621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B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5646F7-6588-4839-B21F-72CFD15D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62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A101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A101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595937-674B-46D3-8CAE-1F76C763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43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B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085A6D-007D-4D1B-8D32-FCAD12DA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432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A101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A101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1AF529-65DC-4905-AD46-F6BBDF8E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33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B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8CC871-28E3-4F58-B785-7E0C21E1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33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A101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A101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270071-AC0A-4F56-BA13-DF008968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43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8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1D30A0-E716-4432-9987-0F47EBA9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432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A101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A101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714421-D2B0-4544-BA6C-54DE87F9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954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081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08132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ED0F42-8E2A-4ED7-8355-BEF21645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38350"/>
            <a:ext cx="12573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human pause</a:t>
            </a:r>
          </a:p>
          <a:p xmlns:a="http://schemas.openxmlformats.org/drawingml/2006/main">
            <a:pPr algn="l">
              <a:defRPr sz="127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private/public</a:t>
            </a:r>
          </a:p>
          <a:p xmlns:a="http://schemas.openxmlformats.org/drawingml/2006/main">
            <a:pPr algn="l">
              <a:defRPr sz="127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memory growth</a:t>
            </a:r>
          </a:p>
          <a:p xmlns:a="http://schemas.openxmlformats.org/drawingml/2006/main">
            <a:pPr algn="l">
              <a:defRPr sz="127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tool result</a:t>
            </a:r>
          </a:p>
          <a:p xmlns:a="http://schemas.openxmlformats.org/drawingml/2006/main">
            <a:pPr algn="l">
              <a:defRPr sz="127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decision</a:t>
            </a:r>
          </a:p>
          <a:p xmlns:a="http://schemas.openxmlformats.org/drawingml/2006/main">
            <a:pPr algn="l">
              <a:defRPr sz="1275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next experiment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>
            <a:off x="6762750" y="4495800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44652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2CBE28-94A6-4B88-84D3-5D21BF89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prediction  ·  God Mode  ·  checkpoints  ·  Learning Debrief</a:t>
            </a:r>
          </a:p>
        </p:txBody>
      </p:sp>
    </p:spTree>
    <p:extLst>
      <p:ext uri="{BB962C8B-B14F-4D97-AF65-F5344CB8AC3E}">
        <p14:creationId xmlns:p14="http://schemas.microsoft.com/office/powerpoint/2010/main" val="9710728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E9C5D-2C10-4F3D-8321-2C6E0102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AE246-6B6D-4B5E-B3C3-C3E56DBB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2381250" cy="676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2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95300" y="61912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4465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CFFCE-830A-431C-B039-A596EFB5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081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08132"/>
                </a:solidFill>
                <a:latin typeface="Aptos"/>
                <a:ea typeface="Aptos"/>
                <a:cs typeface="Aptos"/>
              </a:rPr>
              <a:t>SAFETY + OPEN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FD675-5B2B-4A7B-B357-C889BA09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A9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BA9B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D24C5-E8B7-48CC-BABC-149E9FF4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A9B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A9B4"/>
                </a:solidFill>
                <a:latin typeface="Aptos"/>
                <a:ea typeface="Aptos"/>
                <a:cs typeface="Aptos"/>
              </a:rPr>
              <a:t>BOUNDLESS AGENTS · AI + EDUCATION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20318-DB33-4C67-8353-E4965ABA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Safe enough for the classroom.</a:t>
            </a:r>
          </a:p>
          <a:p xmlns:a="http://schemas.openxmlformats.org/drawingml/2006/main">
            <a:pPr algn="l">
              <a:defRPr sz="3300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Open enough to become more.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A2C37-EE7F-4A2D-BCBF-7D6F1013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5191125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7232C"/>
          </a:solidFill>
          <a:ln xmlns:a="http://schemas.openxmlformats.org/drawingml/2006/main" w="19050">
            <a:solidFill>
              <a:srgbClr val="2946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FAC00-0375-4438-BDD5-998ABEB8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9BB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9BB2"/>
                </a:solidFill>
                <a:latin typeface="Aptos"/>
                <a:ea typeface="Aptos"/>
                <a:cs typeface="Aptos"/>
              </a:rPr>
              <a:t>SAFE TO LEARN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CC490-17BC-4C78-BAAC-26A7D42D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42862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Synthetic game state</a:t>
            </a:r>
          </a:p>
          <a:p xmlns:a="http://schemas.openxmlformats.org/drawingml/2006/main">
            <a:pPr algn="l">
              <a:defRPr sz="18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No student records required</a:t>
            </a:r>
          </a:p>
          <a:p xmlns:a="http://schemas.openxmlformats.org/drawingml/2006/main">
            <a:pPr algn="l">
              <a:defRPr sz="18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Server-side secret filtering</a:t>
            </a:r>
          </a:p>
          <a:p xmlns:a="http://schemas.openxmlformats.org/drawingml/2006/main">
            <a:pPr algn="l">
              <a:defRPr sz="18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Identity + rule validation</a:t>
            </a:r>
          </a:p>
          <a:p xmlns:a="http://schemas.openxmlformats.org/drawingml/2006/main">
            <a:pPr algn="l">
              <a:defRPr sz="18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Reviewable event trace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BCCA3-40AC-4138-8831-11E4C743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5505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9251F"/>
          </a:solidFill>
          <a:ln xmlns:a="http://schemas.openxmlformats.org/drawingml/2006/main" w="19050">
            <a:solidFill>
              <a:srgbClr val="76A1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A5EA9-24CD-484A-A428-8EE60AD3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4317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A1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6A18B"/>
                </a:solidFill>
                <a:latin typeface="Aptos"/>
                <a:ea typeface="Aptos"/>
                <a:cs typeface="Aptos"/>
              </a:rPr>
              <a:t>OPEN TO EXTEND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88783-DEEF-40D5-A859-FE45806F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46196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Swap models and personalities</a:t>
            </a:r>
          </a:p>
          <a:p xmlns:a="http://schemas.openxmlformats.org/drawingml/2006/main">
            <a:pPr algn="l">
              <a:defRPr sz="18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Run deterministic mock sessions</a:t>
            </a:r>
          </a:p>
          <a:p xmlns:a="http://schemas.openxmlformats.org/drawingml/2006/main">
            <a:pPr algn="l">
              <a:defRPr sz="18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Reuse orchestration + tools</a:t>
            </a:r>
          </a:p>
          <a:p xmlns:a="http://schemas.openxmlformats.org/drawingml/2006/main">
            <a:pPr algn="l">
              <a:defRPr sz="18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Adapt to negotiation, ethics,</a:t>
            </a:r>
          </a:p>
          <a:p xmlns:a="http://schemas.openxmlformats.org/drawingml/2006/main">
            <a:pPr algn="l">
              <a:defRPr sz="18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incident response or security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F27E40-1BB4-4044-84CB-F7B85884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BA9B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BA9B4"/>
                </a:solidFill>
                <a:latin typeface="Aptos"/>
                <a:ea typeface="Aptos"/>
                <a:cs typeface="Aptos"/>
              </a:rPr>
              <a:t>Educational simulation—not teacher replacement or automated student assessment.</a:t>
            </a:r>
          </a:p>
        </p:txBody>
      </p:sp>
    </p:spTree>
    <p:extLst>
      <p:ext uri="{BB962C8B-B14F-4D97-AF65-F5344CB8AC3E}">
        <p14:creationId xmlns:p14="http://schemas.microsoft.com/office/powerpoint/2010/main" val="10703018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14B480-8B04-4DD6-9282-582E98E9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FF271-62B1-44DC-BFC2-12FBFE62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2381250" cy="676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2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95300" y="61912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4465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5CA13-803C-42BB-B503-3875AADC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081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08132"/>
                </a:solidFill>
                <a:latin typeface="Aptos"/>
                <a:ea typeface="Aptos"/>
                <a:cs typeface="Aptos"/>
              </a:rPr>
              <a:t>LEARNING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17207-10A7-4D28-83E8-0183D9E5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A9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BA9B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02966-38C9-4B64-AD2E-F50978B1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A9B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A9B4"/>
                </a:solidFill>
                <a:latin typeface="Aptos"/>
                <a:ea typeface="Aptos"/>
                <a:cs typeface="Aptos"/>
              </a:rPr>
              <a:t>BOUNDLESS AGENTS · AI + EDUCATION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801D7-B421-4FCC-9DB8-412025A4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91"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The debrief turns one game</a:t>
            </a:r>
          </a:p>
          <a:p xmlns:a="http://schemas.openxmlformats.org/drawingml/2006/main">
            <a:pPr algn="l">
              <a:defRPr sz="3525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into the next experiment.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F6862-C58C-47FF-8191-6AA3DB32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7875"/>
            <a:ext cx="676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D0C2"/>
                </a:solidFill>
                <a:latin typeface="Aptos"/>
                <a:ea typeface="Aptos"/>
                <a:cs typeface="Aptos"/>
              </a:rPr>
              <a:t>Durable traces connect what the learner experienced to the agentic-AI concepts underneath it.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904875" y="4000500"/>
            <a:ext cx="10096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44652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8660F-A7D8-4B2C-B121-9E71CFAA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B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0EFDF-2423-40AB-903D-87E0DA4A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52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101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A101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12B77-6B38-4736-A5B9-09415798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9BB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9BB2"/>
                </a:solidFill>
                <a:latin typeface="Aptos"/>
                <a:ea typeface="Aptos"/>
                <a:cs typeface="Aptos"/>
              </a:rPr>
              <a:t>EXPERIENCE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A56CA-8EAC-459F-9719-1A1BF250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PLAY + PREDICT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3374C-54AE-4C0E-BCEA-2AD1DB7F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482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0C2"/>
                </a:solidFill>
                <a:latin typeface="Aptos"/>
                <a:ea typeface="Aptos"/>
                <a:cs typeface="Aptos"/>
              </a:rPr>
              <a:t>Configure models · record a</a:t>
            </a:r>
          </a:p>
          <a:p xmlns:a="http://schemas.openxmlformats.org/drawingml/2006/main">
            <a:pPr algn="l">
              <a:defRPr sz="1350" b="0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0C2"/>
                </a:solidFill>
                <a:latin typeface="Aptos"/>
                <a:ea typeface="Aptos"/>
                <a:cs typeface="Aptos"/>
              </a:rPr>
              <a:t>hypothesis · sit in the graph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9B0C58-49D3-4CF6-9ABB-4C363451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8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59F3D4-BC0B-4BDB-8044-E01704D5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52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101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A101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855142-416D-4160-86F4-61D81C0E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432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81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08132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6A45F5-E2B6-433B-A968-8D86815F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72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LEARNING DEBRIEF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DFB656-7E86-4F17-9C3A-EEFF296F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482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0C2"/>
                </a:solidFill>
                <a:latin typeface="Aptos"/>
                <a:ea typeface="Aptos"/>
                <a:cs typeface="Aptos"/>
              </a:rPr>
              <a:t>Interrupts · private context</a:t>
            </a:r>
          </a:p>
          <a:p xmlns:a="http://schemas.openxmlformats.org/drawingml/2006/main">
            <a:pPr algn="l">
              <a:defRPr sz="1350" b="0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0C2"/>
                </a:solidFill>
                <a:latin typeface="Aptos"/>
                <a:ea typeface="Aptos"/>
                <a:cs typeface="Aptos"/>
              </a:rPr>
              <a:t>tools · memory · decisions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AACC75-4440-40B4-8074-1CAF8251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A1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E8A4A-77C5-4A18-9035-40710574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52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101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A1015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F21B33-881B-426B-990B-4831F3FE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432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6A1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6A18B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296E94-5948-45D7-9DD2-54C86256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72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EE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EEE5"/>
                </a:solidFill>
                <a:latin typeface="Aptos"/>
                <a:ea typeface="Aptos"/>
                <a:cs typeface="Aptos"/>
              </a:rPr>
              <a:t>COMPARE + EXPORT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2A2882-D902-45A9-BB2D-BE32E64B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0C2"/>
                </a:solidFill>
                <a:latin typeface="Aptos"/>
                <a:ea typeface="Aptos"/>
                <a:cs typeface="Aptos"/>
              </a:rPr>
              <a:t>Controlled replay · lesson plans</a:t>
            </a:r>
          </a:p>
          <a:p xmlns:a="http://schemas.openxmlformats.org/drawingml/2006/main">
            <a:pPr algn="l">
              <a:defRPr sz="1350" b="0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0C2"/>
                </a:solidFill>
                <a:latin typeface="Aptos"/>
                <a:ea typeface="Aptos"/>
                <a:cs typeface="Aptos"/>
              </a:rPr>
              <a:t>trust graph · evidence reports</a:t>
            </a:r>
          </a:p>
        </p:txBody>
      </p:sp>
    </p:spTree>
    <p:extLst>
      <p:ext uri="{BB962C8B-B14F-4D97-AF65-F5344CB8AC3E}">
        <p14:creationId xmlns:p14="http://schemas.microsoft.com/office/powerpoint/2010/main" val="17053078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2c79228d14ad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7C51F-1168-4FC9-9BEC-02460E4D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5C45A-72EA-4AD9-9B36-F895766D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081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08132"/>
                </a:solidFill>
                <a:latin typeface="Aptos"/>
                <a:ea typeface="Aptos"/>
                <a:cs typeface="Aptos"/>
              </a:rPr>
              <a:t>VILLAGE OF SHADOWS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6857A-60A6-4A43-A240-B3581DDF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4476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4050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Do not just watch</a:t>
            </a:r>
          </a:p>
          <a:p xmlns:a="http://schemas.openxmlformats.org/drawingml/2006/main">
            <a:pPr algn="l">
              <a:defRPr sz="4050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4050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agents work.</a:t>
            </a:r>
          </a:p>
          <a:p xmlns:a="http://schemas.openxmlformats.org/drawingml/2006/main">
            <a:pPr algn="l">
              <a:defRPr sz="4050" b="0">
                <a:solidFill>
                  <a:srgbClr val="F2EEE5"/>
                </a:solidFill>
                <a:latin typeface="Georgia"/>
                <a:ea typeface="Georgia"/>
                <a:cs typeface="Georgia"/>
              </a:defRPr>
            </a:pPr>
            <a:r>
              <a:rPr sz="4050" b="0">
                <a:solidFill>
                  <a:srgbClr val="F2EEE5"/>
                </a:solidFill>
                <a:latin typeface="Georgia"/>
                <a:ea typeface="Georgia"/>
                <a:cs typeface="Georgia"/>
              </a:rPr>
              <a:t>Sit among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A0D8D-F03D-4111-BD68-87DE9C05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D0C2"/>
                </a:solidFill>
                <a:latin typeface="Aptos"/>
                <a:ea typeface="Aptos"/>
                <a:cs typeface="Aptos"/>
              </a:rPr>
              <a:t>Give agents identities, incomplete information and competing objectives—then learn from the world that emerges.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533400" y="5619750"/>
            <a:ext cx="3714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08132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4210E-6F7F-4590-920D-964AF8E2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69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BA9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BA9B4"/>
                </a:solidFill>
                <a:latin typeface="Aptos"/>
                <a:ea typeface="Aptos"/>
                <a:cs typeface="Aptos"/>
              </a:rPr>
              <a:t>BOUNDLESS AGENTS · AI + EDUCATION · WORKING PROTOTYPE</a:t>
            </a:r>
          </a:p>
        </p:txBody>
      </p:sp>
    </p:spTree>
    <p:extLst>
      <p:ext uri="{BB962C8B-B14F-4D97-AF65-F5344CB8AC3E}">
        <p14:creationId xmlns:p14="http://schemas.microsoft.com/office/powerpoint/2010/main" val="7913433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2026-08-13T12:33:45.1940000Z</dcterms:created>
  <dcterms:modified xsi:type="dcterms:W3CDTF">2026-08-13T12:33:45.1940000Z</dcterms:modified>
</coreProperties>
</file>